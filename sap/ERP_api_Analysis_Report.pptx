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563BE-84BD-2757-EB59-3E24288B2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2E83D-D85F-E540-D90D-E5F0095E3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8E48-2029-008E-E052-7C3F2C2C2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B025-DBFE-4A81-9444-1C640C6A8245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E1B7F-41D4-8566-4BE7-EA54FD0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A6559-898D-5FF8-55A4-44A60396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7362-F2FA-47B4-8C3C-0F3B845E7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23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53B6-952A-B13E-8991-D1765906A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EA16F-9D8B-4496-D07F-987CA001C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142B8-BD3F-6329-4D4B-13C431FBA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B025-DBFE-4A81-9444-1C640C6A8245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CC4EF-343F-860A-F364-715B8CFA0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B8FA4-C55C-4938-FC10-BECD6190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7362-F2FA-47B4-8C3C-0F3B845E7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21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4BEC-861F-1804-CD37-0F0FB7DC9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6D7B6-BC53-6FF2-4D2C-CC4E54263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459B6-77BA-50FF-D18A-C8ACB807A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B025-DBFE-4A81-9444-1C640C6A8245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37808-F368-1DB6-E68E-7EF1F1144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B6DA7-CC1C-0290-3908-951BEC03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7362-F2FA-47B4-8C3C-0F3B845E7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22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B5B16-5CC3-AA30-F3AD-A42B3D4A9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A37A8-25BB-D668-8C62-937B61FCC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9154E-108C-156D-2BE4-AEFA6892B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66F0E-3BD4-3A22-0FBF-361FBB6DE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B025-DBFE-4A81-9444-1C640C6A8245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31212-EFC7-8C20-D07E-F3212B2D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4C50E-0CEB-E4FB-8F01-C1FE3A4E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7362-F2FA-47B4-8C3C-0F3B845E7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57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8E17-1FC9-9E2D-E650-27101E822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A969A-4589-9E31-ADE5-9684D2349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653E4-15D7-82B6-EFBC-E37E590FF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D4378-CAE0-4123-3821-7F41E2C0D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027E9A-2869-40D7-054B-2F69EB0B2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C95BC-C088-A10A-BB24-1ADF27E0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B025-DBFE-4A81-9444-1C640C6A8245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5FB7FB-CD92-0072-F81F-3FC96EC68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18414F-0DA0-67A5-E7AE-22DB6D0DF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7362-F2FA-47B4-8C3C-0F3B845E7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31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FC12-9209-39CA-19D1-98A10274E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6DE39-FD9E-3648-24BD-B743D03B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B025-DBFE-4A81-9444-1C640C6A8245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B12450-EEC0-AEAF-D994-C82AC0DFB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69280-5A1D-08A6-7E33-0C082DE9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7362-F2FA-47B4-8C3C-0F3B845E7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43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61ADE8-0AFB-82FB-EAD8-F8DB3A27A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B025-DBFE-4A81-9444-1C640C6A8245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7F5EE-B747-D593-86CE-DBC52143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DB1AF-D98A-973F-67F7-9F5D1D35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7362-F2FA-47B4-8C3C-0F3B845E7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685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67441-E90C-1690-2935-7F1FB238A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26DB3-B1B9-36A0-67FA-6A6B5DFDE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1B13F-90D8-CDFB-B6A2-C1798E294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35455-74A3-5042-B447-1C25F3D64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B025-DBFE-4A81-9444-1C640C6A8245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28B19-209F-59CC-EB20-6F71B3E6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5CAFC-6C59-CFC3-F0D9-988A8B20D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7362-F2FA-47B4-8C3C-0F3B845E7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7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F3004-FDB9-396B-312F-A7F086483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6E5C3-DA7F-993B-DFA5-C2674D2EE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24DE7-709C-1D49-A199-9C712270D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98F40-C315-7486-34B5-576EA3206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B025-DBFE-4A81-9444-1C640C6A8245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05439-9943-34F5-E5A7-E2CB315CC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7081C-2BEA-B34C-3CF6-822D99FA0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7362-F2FA-47B4-8C3C-0F3B845E7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44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A111E-F0E6-7886-E6F9-C4201ABAC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03876-ED05-343D-3159-113F2D3DB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68A4D-2B44-D042-65D6-1708F01E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B025-DBFE-4A81-9444-1C640C6A8245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029B6-0290-7A08-A335-39ECECF79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E4631-BB9E-3A0C-99C4-07FD4FCC9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7362-F2FA-47B4-8C3C-0F3B845E7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0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A7BEDB-CC1F-73B2-5450-7C1E7B2CE5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222DF-C8AB-C40F-BC4F-48CEB706B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F7BB5-0B7C-A5A4-00D6-E037F9C0B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B025-DBFE-4A81-9444-1C640C6A8245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79275-639A-E398-06F3-31AC1787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8112C-A51E-A91B-B267-CC3D96AA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7362-F2FA-47B4-8C3C-0F3B845E7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47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2FE30E-3074-C73D-3B09-1FB2875F9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305B9-FD8A-ABE9-B880-07A91A425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AA6BB-07E7-FB53-D775-0F687314E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6B025-DBFE-4A81-9444-1C640C6A8245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EB885-D79D-5EFE-707E-FA4BF4BE6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8B23-5D3B-BD44-011B-8A62F05822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97362-F2FA-47B4-8C3C-0F3B845E7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92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5DAFA6-ACBC-F915-BE6C-99041B6E77EA}"/>
              </a:ext>
            </a:extLst>
          </p:cNvPr>
          <p:cNvSpPr/>
          <p:nvPr/>
        </p:nvSpPr>
        <p:spPr>
          <a:xfrm>
            <a:off x="0" y="0"/>
            <a:ext cx="12191746" cy="6858000"/>
          </a:xfrm>
          <a:prstGeom prst="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4DC9C49-1A1B-D816-3825-1FD5CF5717F4}"/>
              </a:ext>
            </a:extLst>
          </p:cNvPr>
          <p:cNvSpPr/>
          <p:nvPr/>
        </p:nvSpPr>
        <p:spPr>
          <a:xfrm>
            <a:off x="8412480" y="-2011680"/>
            <a:ext cx="5669281" cy="5669280"/>
          </a:xfrm>
          <a:prstGeom prst="ellipse">
            <a:avLst/>
          </a:prstGeom>
          <a:solidFill>
            <a:srgbClr val="D4A017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6C696F-120D-8980-1D16-C77D258A1172}"/>
              </a:ext>
            </a:extLst>
          </p:cNvPr>
          <p:cNvSpPr/>
          <p:nvPr/>
        </p:nvSpPr>
        <p:spPr>
          <a:xfrm>
            <a:off x="-1371600" y="5029200"/>
            <a:ext cx="4114800" cy="411480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2C473-7211-58C5-7E73-734192543D71}"/>
              </a:ext>
            </a:extLst>
          </p:cNvPr>
          <p:cNvSpPr txBox="1"/>
          <p:nvPr/>
        </p:nvSpPr>
        <p:spPr>
          <a:xfrm>
            <a:off x="914400" y="1965960"/>
            <a:ext cx="7315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 b="1">
                <a:solidFill>
                  <a:srgbClr val="D4A017"/>
                </a:solidFill>
                <a:latin typeface="Calibri" panose="020F0502020204030204" pitchFamily="34" charset="0"/>
              </a:rPr>
              <a:t>OWLTING  //  ERP MIDDLEWARE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FF68C-6493-C2F4-5EB8-02E1EAAD0C9A}"/>
              </a:ext>
            </a:extLst>
          </p:cNvPr>
          <p:cNvSpPr txBox="1"/>
          <p:nvPr/>
        </p:nvSpPr>
        <p:spPr>
          <a:xfrm>
            <a:off x="914400" y="2423160"/>
            <a:ext cx="1033272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TW" sz="4400" b="1">
                <a:solidFill>
                  <a:srgbClr val="FFFFFF"/>
                </a:solidFill>
                <a:latin typeface="Calibri" panose="020F0502020204030204" pitchFamily="34" charset="0"/>
              </a:rPr>
              <a:t>ERP_api </a:t>
            </a:r>
            <a:r>
              <a:rPr lang="zh-TW" altLang="en-US" sz="4400" b="1">
                <a:solidFill>
                  <a:srgbClr val="FFFFFF"/>
                </a:solidFill>
                <a:latin typeface="Calibri" panose="020F0502020204030204" pitchFamily="34" charset="0"/>
              </a:rPr>
              <a:t>專案分析報告</a:t>
            </a:r>
            <a:endParaRPr lang="en-US" sz="4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B4E356-9C26-F9BA-BA22-F1F7FBC03550}"/>
              </a:ext>
            </a:extLst>
          </p:cNvPr>
          <p:cNvSpPr txBox="1"/>
          <p:nvPr/>
        </p:nvSpPr>
        <p:spPr>
          <a:xfrm>
            <a:off x="914400" y="36118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CADCFC"/>
                </a:solidFill>
                <a:latin typeface="Calibri" panose="020F0502020204030204" pitchFamily="34" charset="0"/>
              </a:rPr>
              <a:t>Laravel </a:t>
            </a:r>
            <a:r>
              <a:rPr lang="zh-TW" altLang="en-US" sz="2000">
                <a:solidFill>
                  <a:srgbClr val="CADCFC"/>
                </a:solidFill>
                <a:latin typeface="Calibri" panose="020F0502020204030204" pitchFamily="34" charset="0"/>
              </a:rPr>
              <a:t>中台系統 </a:t>
            </a:r>
            <a:r>
              <a:rPr lang="en-US" sz="2000">
                <a:solidFill>
                  <a:srgbClr val="CADCFC"/>
                </a:solidFill>
                <a:latin typeface="Calibri" panose="020F0502020204030204" pitchFamily="34" charset="0"/>
              </a:rPr>
              <a:t>x SAP Business ByDesign </a:t>
            </a:r>
            <a:r>
              <a:rPr lang="zh-TW" altLang="en-US" sz="2000">
                <a:solidFill>
                  <a:srgbClr val="CADCFC"/>
                </a:solidFill>
                <a:latin typeface="Calibri" panose="020F0502020204030204" pitchFamily="34" charset="0"/>
              </a:rPr>
              <a:t>整合分析</a:t>
            </a:r>
            <a:endParaRPr lang="en-US" sz="2000">
              <a:solidFill>
                <a:srgbClr val="CADCFC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8B75B5-3245-F677-DF0C-83DFD107DF04}"/>
              </a:ext>
            </a:extLst>
          </p:cNvPr>
          <p:cNvSpPr txBox="1"/>
          <p:nvPr/>
        </p:nvSpPr>
        <p:spPr>
          <a:xfrm>
            <a:off x="914400" y="5989320"/>
            <a:ext cx="10058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TW" sz="1300">
                <a:solidFill>
                  <a:srgbClr val="9AA5C7"/>
                </a:solidFill>
                <a:latin typeface="Calibri" panose="020F0502020204030204" pitchFamily="34" charset="0"/>
              </a:rPr>
              <a:t>SAP API </a:t>
            </a:r>
            <a:r>
              <a:rPr lang="zh-TW" altLang="en-US" sz="1300">
                <a:solidFill>
                  <a:srgbClr val="9AA5C7"/>
                </a:solidFill>
                <a:latin typeface="Calibri" panose="020F0502020204030204" pitchFamily="34" charset="0"/>
              </a:rPr>
              <a:t>整合  </a:t>
            </a:r>
            <a:r>
              <a:rPr lang="en-US" altLang="zh-TW" sz="1300">
                <a:solidFill>
                  <a:srgbClr val="9AA5C7"/>
                </a:solidFill>
                <a:latin typeface="Calibri" panose="020F0502020204030204" pitchFamily="34" charset="0"/>
              </a:rPr>
              <a:t>·  </a:t>
            </a:r>
            <a:r>
              <a:rPr lang="zh-TW" altLang="en-US" sz="1300">
                <a:solidFill>
                  <a:srgbClr val="9AA5C7"/>
                </a:solidFill>
                <a:latin typeface="Calibri" panose="020F0502020204030204" pitchFamily="34" charset="0"/>
              </a:rPr>
              <a:t>後台管理功能  </a:t>
            </a:r>
            <a:r>
              <a:rPr lang="en-US" altLang="zh-TW" sz="1300">
                <a:solidFill>
                  <a:srgbClr val="9AA5C7"/>
                </a:solidFill>
                <a:latin typeface="Calibri" panose="020F0502020204030204" pitchFamily="34" charset="0"/>
              </a:rPr>
              <a:t>·  </a:t>
            </a:r>
            <a:r>
              <a:rPr lang="zh-TW" altLang="en-US" sz="1300">
                <a:solidFill>
                  <a:srgbClr val="9AA5C7"/>
                </a:solidFill>
                <a:latin typeface="Calibri" panose="020F0502020204030204" pitchFamily="34" charset="0"/>
              </a:rPr>
              <a:t>系統架構  </a:t>
            </a:r>
            <a:r>
              <a:rPr lang="en-US" altLang="zh-TW" sz="1300">
                <a:solidFill>
                  <a:srgbClr val="9AA5C7"/>
                </a:solidFill>
                <a:latin typeface="Calibri" panose="020F0502020204030204" pitchFamily="34" charset="0"/>
              </a:rPr>
              <a:t>·  </a:t>
            </a:r>
            <a:r>
              <a:rPr lang="zh-TW" altLang="en-US" sz="1300">
                <a:solidFill>
                  <a:srgbClr val="9AA5C7"/>
                </a:solidFill>
                <a:latin typeface="Calibri" panose="020F0502020204030204" pitchFamily="34" charset="0"/>
              </a:rPr>
              <a:t>技術債評估</a:t>
            </a:r>
            <a:endParaRPr lang="en-US" sz="1300">
              <a:solidFill>
                <a:srgbClr val="9AA5C7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33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895C53-8EA1-A77D-ACB3-692894FB040C}"/>
              </a:ext>
            </a:extLst>
          </p:cNvPr>
          <p:cNvSpPr/>
          <p:nvPr/>
        </p:nvSpPr>
        <p:spPr>
          <a:xfrm>
            <a:off x="0" y="0"/>
            <a:ext cx="1219174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A0123-B721-7798-F5F9-4EA05E8CDAED}"/>
              </a:ext>
            </a:extLst>
          </p:cNvPr>
          <p:cNvSpPr txBox="1"/>
          <p:nvPr/>
        </p:nvSpPr>
        <p:spPr>
          <a:xfrm>
            <a:off x="548640" y="457200"/>
            <a:ext cx="8686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目錄</a:t>
            </a:r>
            <a:endParaRPr lang="en-US" sz="30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B1CF038-CF82-28EA-6F13-93A73152571A}"/>
              </a:ext>
            </a:extLst>
          </p:cNvPr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AFA5C8-3FCF-DDD5-C40D-49D9C0B7DDE2}"/>
              </a:ext>
            </a:extLst>
          </p:cNvPr>
          <p:cNvSpPr txBox="1"/>
          <p:nvPr/>
        </p:nvSpPr>
        <p:spPr>
          <a:xfrm>
            <a:off x="548640" y="1554480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b="1">
                <a:solidFill>
                  <a:srgbClr val="D4A017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0CD6C8-EB59-DA02-5919-9B82F3BB4B53}"/>
              </a:ext>
            </a:extLst>
          </p:cNvPr>
          <p:cNvSpPr txBox="1"/>
          <p:nvPr/>
        </p:nvSpPr>
        <p:spPr>
          <a:xfrm>
            <a:off x="1234440" y="1554480"/>
            <a:ext cx="448056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1E2761"/>
                </a:solidFill>
                <a:latin typeface="Calibri" panose="020F0502020204030204" pitchFamily="34" charset="0"/>
              </a:rPr>
              <a:t>SAP ByDesign Web API </a:t>
            </a:r>
            <a:r>
              <a:rPr lang="zh-TW" altLang="en-US" sz="1600" b="1">
                <a:solidFill>
                  <a:srgbClr val="1E2761"/>
                </a:solidFill>
                <a:latin typeface="Calibri" panose="020F0502020204030204" pitchFamily="34" charset="0"/>
              </a:rPr>
              <a:t>整合</a:t>
            </a:r>
            <a:endParaRPr lang="en-US" sz="16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B5D264-3CE7-5B84-3654-779BB3B098B3}"/>
              </a:ext>
            </a:extLst>
          </p:cNvPr>
          <p:cNvSpPr txBox="1"/>
          <p:nvPr/>
        </p:nvSpPr>
        <p:spPr>
          <a:xfrm>
            <a:off x="1234440" y="1938528"/>
            <a:ext cx="448056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TW" sz="1100">
                <a:solidFill>
                  <a:srgbClr val="5B6B94"/>
                </a:solidFill>
                <a:latin typeface="Calibri" panose="020F0502020204030204" pitchFamily="34" charset="0"/>
              </a:rPr>
              <a:t>SOAP/WSDL </a:t>
            </a:r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串接方式與 </a:t>
            </a:r>
            <a:r>
              <a:rPr lang="en-US" altLang="zh-TW" sz="1100">
                <a:solidFill>
                  <a:srgbClr val="5B6B94"/>
                </a:solidFill>
                <a:latin typeface="Calibri" panose="020F0502020204030204" pitchFamily="34" charset="0"/>
              </a:rPr>
              <a:t>16 </a:t>
            </a:r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項服務清單</a:t>
            </a:r>
            <a:endParaRPr lang="en-US" sz="11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9C1E93D-7C16-778A-FC7F-2BD7DE92A926}"/>
              </a:ext>
            </a:extLst>
          </p:cNvPr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0B495-5CBB-7434-D047-E072A581425E}"/>
              </a:ext>
            </a:extLst>
          </p:cNvPr>
          <p:cNvSpPr txBox="1"/>
          <p:nvPr/>
        </p:nvSpPr>
        <p:spPr>
          <a:xfrm>
            <a:off x="548640" y="3200400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b="1">
                <a:solidFill>
                  <a:srgbClr val="D4A017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31E50E-A2FD-4F74-9CB7-374A2F7906C4}"/>
              </a:ext>
            </a:extLst>
          </p:cNvPr>
          <p:cNvSpPr txBox="1"/>
          <p:nvPr/>
        </p:nvSpPr>
        <p:spPr>
          <a:xfrm>
            <a:off x="1234440" y="3200400"/>
            <a:ext cx="448056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nb-NO" sz="1600" b="1">
                <a:solidFill>
                  <a:srgbClr val="1E2761"/>
                </a:solidFill>
                <a:latin typeface="Calibri" panose="020F0502020204030204" pitchFamily="34" charset="0"/>
              </a:rPr>
              <a:t>app/Admin 後台管理面板</a:t>
            </a:r>
            <a:endParaRPr lang="en-US" sz="16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E80ABE-17BE-143B-447E-B551CDE2191E}"/>
              </a:ext>
            </a:extLst>
          </p:cNvPr>
          <p:cNvSpPr txBox="1"/>
          <p:nvPr/>
        </p:nvSpPr>
        <p:spPr>
          <a:xfrm>
            <a:off x="1234440" y="3584448"/>
            <a:ext cx="448056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5B6B94"/>
                </a:solidFill>
                <a:latin typeface="Calibri" panose="020F0502020204030204" pitchFamily="34" charset="0"/>
              </a:rPr>
              <a:t>dcat-admin </a:t>
            </a:r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功能地圖</a:t>
            </a:r>
            <a:endParaRPr lang="en-US" sz="11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5F14C2A-A54B-62C8-29A9-E0F9C3552F7E}"/>
              </a:ext>
            </a:extLst>
          </p:cNvPr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E73C8D-02F2-3151-1607-488C2B83B498}"/>
              </a:ext>
            </a:extLst>
          </p:cNvPr>
          <p:cNvSpPr txBox="1"/>
          <p:nvPr/>
        </p:nvSpPr>
        <p:spPr>
          <a:xfrm>
            <a:off x="548640" y="4846320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b="1">
                <a:solidFill>
                  <a:srgbClr val="D4A017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BFD7E0-5C54-A931-72E1-C6422951116A}"/>
              </a:ext>
            </a:extLst>
          </p:cNvPr>
          <p:cNvSpPr txBox="1"/>
          <p:nvPr/>
        </p:nvSpPr>
        <p:spPr>
          <a:xfrm>
            <a:off x="1234440" y="4846320"/>
            <a:ext cx="448056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600" b="1">
                <a:solidFill>
                  <a:srgbClr val="1E2761"/>
                </a:solidFill>
                <a:latin typeface="Calibri" panose="020F0502020204030204" pitchFamily="34" charset="0"/>
              </a:rPr>
              <a:t>整體專案架構</a:t>
            </a:r>
            <a:endParaRPr lang="en-US" sz="16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7B1EDB-F472-1C92-B89B-7B3B88AF9B94}"/>
              </a:ext>
            </a:extLst>
          </p:cNvPr>
          <p:cNvSpPr txBox="1"/>
          <p:nvPr/>
        </p:nvSpPr>
        <p:spPr>
          <a:xfrm>
            <a:off x="1234440" y="5230368"/>
            <a:ext cx="448056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技術棧、三層架構、資料模型</a:t>
            </a:r>
            <a:endParaRPr lang="en-US" sz="11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B5AD386-7E72-36A4-53B0-3F44527D1FE5}"/>
              </a:ext>
            </a:extLst>
          </p:cNvPr>
          <p:cNvSpPr/>
          <p:nvPr/>
        </p:nvSpPr>
        <p:spPr>
          <a:xfrm>
            <a:off x="6309360" y="1554480"/>
            <a:ext cx="502920" cy="50292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BADA23-6BF3-E7C6-1BE0-7532223B9B96}"/>
              </a:ext>
            </a:extLst>
          </p:cNvPr>
          <p:cNvSpPr txBox="1"/>
          <p:nvPr/>
        </p:nvSpPr>
        <p:spPr>
          <a:xfrm>
            <a:off x="6309360" y="1554480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b="1">
                <a:solidFill>
                  <a:srgbClr val="D4A017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DAE86-FDB7-1572-FD65-ED729052BFCC}"/>
              </a:ext>
            </a:extLst>
          </p:cNvPr>
          <p:cNvSpPr txBox="1"/>
          <p:nvPr/>
        </p:nvSpPr>
        <p:spPr>
          <a:xfrm>
            <a:off x="6995160" y="1554480"/>
            <a:ext cx="448056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1E2761"/>
                </a:solidFill>
                <a:latin typeface="Calibri" panose="020F0502020204030204" pitchFamily="34" charset="0"/>
              </a:rPr>
              <a:t>Material Valuation API </a:t>
            </a:r>
            <a:r>
              <a:rPr lang="zh-TW" altLang="en-US" sz="1600" b="1">
                <a:solidFill>
                  <a:srgbClr val="1E2761"/>
                </a:solidFill>
                <a:latin typeface="Calibri" panose="020F0502020204030204" pitchFamily="34" charset="0"/>
              </a:rPr>
              <a:t>分析</a:t>
            </a:r>
            <a:endParaRPr lang="en-US" sz="16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65A11F-314B-AC41-CBA8-76E7042B386F}"/>
              </a:ext>
            </a:extLst>
          </p:cNvPr>
          <p:cNvSpPr txBox="1"/>
          <p:nvPr/>
        </p:nvSpPr>
        <p:spPr>
          <a:xfrm>
            <a:off x="6995160" y="1938528"/>
            <a:ext cx="448056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推送流程與參數對照</a:t>
            </a:r>
            <a:endParaRPr lang="en-US" sz="11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0ABF1E3-F1B8-0736-28E5-AE1A2C7B270A}"/>
              </a:ext>
            </a:extLst>
          </p:cNvPr>
          <p:cNvSpPr/>
          <p:nvPr/>
        </p:nvSpPr>
        <p:spPr>
          <a:xfrm>
            <a:off x="6309360" y="3200400"/>
            <a:ext cx="502920" cy="50292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B17DC4-FFAC-9653-C090-51AC7AB972A9}"/>
              </a:ext>
            </a:extLst>
          </p:cNvPr>
          <p:cNvSpPr txBox="1"/>
          <p:nvPr/>
        </p:nvSpPr>
        <p:spPr>
          <a:xfrm>
            <a:off x="6309360" y="3200400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b="1">
                <a:solidFill>
                  <a:srgbClr val="D4A017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7C7806-F225-4634-C598-412C0ADFFE4B}"/>
              </a:ext>
            </a:extLst>
          </p:cNvPr>
          <p:cNvSpPr txBox="1"/>
          <p:nvPr/>
        </p:nvSpPr>
        <p:spPr>
          <a:xfrm>
            <a:off x="6995160" y="3200400"/>
            <a:ext cx="448056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1E2761"/>
                </a:solidFill>
                <a:latin typeface="Calibri" panose="020F0502020204030204" pitchFamily="34" charset="0"/>
              </a:rPr>
              <a:t>Database Seeder </a:t>
            </a:r>
            <a:r>
              <a:rPr lang="zh-TW" altLang="en-US" sz="1600" b="1">
                <a:solidFill>
                  <a:srgbClr val="1E2761"/>
                </a:solidFill>
                <a:latin typeface="Calibri" panose="020F0502020204030204" pitchFamily="34" charset="0"/>
              </a:rPr>
              <a:t>功能</a:t>
            </a:r>
            <a:endParaRPr lang="en-US" sz="16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C7BB60-9F58-E058-7DE1-5552106DAB42}"/>
              </a:ext>
            </a:extLst>
          </p:cNvPr>
          <p:cNvSpPr txBox="1"/>
          <p:nvPr/>
        </p:nvSpPr>
        <p:spPr>
          <a:xfrm>
            <a:off x="6995160" y="3584448"/>
            <a:ext cx="448056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TW" sz="1100">
                <a:solidFill>
                  <a:srgbClr val="5B6B94"/>
                </a:solidFill>
                <a:latin typeface="Calibri" panose="020F0502020204030204" pitchFamily="34" charset="0"/>
              </a:rPr>
              <a:t>10 </a:t>
            </a:r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個 </a:t>
            </a:r>
            <a:r>
              <a:rPr lang="en-US" altLang="zh-TW" sz="1100">
                <a:solidFill>
                  <a:srgbClr val="5B6B94"/>
                </a:solidFill>
                <a:latin typeface="Calibri" panose="020F0502020204030204" pitchFamily="34" charset="0"/>
              </a:rPr>
              <a:t>Seeder </a:t>
            </a:r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用途與已知問題</a:t>
            </a:r>
            <a:endParaRPr lang="en-US" sz="11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3D7AA1D-736C-15F6-5AB7-EDCF1EFEBEE5}"/>
              </a:ext>
            </a:extLst>
          </p:cNvPr>
          <p:cNvSpPr/>
          <p:nvPr/>
        </p:nvSpPr>
        <p:spPr>
          <a:xfrm>
            <a:off x="6309360" y="4846320"/>
            <a:ext cx="502920" cy="50292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0EBDB3-5470-0831-5759-296B94043970}"/>
              </a:ext>
            </a:extLst>
          </p:cNvPr>
          <p:cNvSpPr txBox="1"/>
          <p:nvPr/>
        </p:nvSpPr>
        <p:spPr>
          <a:xfrm>
            <a:off x="6309360" y="4846320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b="1">
                <a:solidFill>
                  <a:srgbClr val="D4A017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9E2F9F-8D64-8FB5-ECF8-957C8B6E7CB0}"/>
              </a:ext>
            </a:extLst>
          </p:cNvPr>
          <p:cNvSpPr txBox="1"/>
          <p:nvPr/>
        </p:nvSpPr>
        <p:spPr>
          <a:xfrm>
            <a:off x="6995160" y="4846320"/>
            <a:ext cx="448056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600" b="1">
                <a:solidFill>
                  <a:srgbClr val="1E2761"/>
                </a:solidFill>
                <a:latin typeface="Calibri" panose="020F0502020204030204" pitchFamily="34" charset="0"/>
              </a:rPr>
              <a:t>總結與建議</a:t>
            </a:r>
            <a:endParaRPr lang="en-US" sz="16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832D7C-A84F-2244-AB59-5204E9FF0A4F}"/>
              </a:ext>
            </a:extLst>
          </p:cNvPr>
          <p:cNvSpPr txBox="1"/>
          <p:nvPr/>
        </p:nvSpPr>
        <p:spPr>
          <a:xfrm>
            <a:off x="6995160" y="5230368"/>
            <a:ext cx="448056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關鍵發現彙整</a:t>
            </a:r>
            <a:endParaRPr lang="en-US" sz="11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9EA12F-D08A-3538-80F8-02D9A6EE439F}"/>
              </a:ext>
            </a:extLst>
          </p:cNvPr>
          <p:cNvSpPr txBox="1"/>
          <p:nvPr/>
        </p:nvSpPr>
        <p:spPr>
          <a:xfrm>
            <a:off x="11247120" y="649224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>
                <a:solidFill>
                  <a:srgbClr val="9AA5C7"/>
                </a:solidFill>
                <a:latin typeface="Calibri" panose="020F050202020403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8134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3D96D5-B8F5-72F9-D441-D45AA6B3F608}"/>
              </a:ext>
            </a:extLst>
          </p:cNvPr>
          <p:cNvSpPr/>
          <p:nvPr/>
        </p:nvSpPr>
        <p:spPr>
          <a:xfrm>
            <a:off x="0" y="0"/>
            <a:ext cx="1219174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D48FF-AB0B-7D1F-0260-10A870343510}"/>
              </a:ext>
            </a:extLst>
          </p:cNvPr>
          <p:cNvSpPr txBox="1"/>
          <p:nvPr/>
        </p:nvSpPr>
        <p:spPr>
          <a:xfrm>
            <a:off x="548640" y="457200"/>
            <a:ext cx="8686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SAP ByDesign </a:t>
            </a:r>
            <a:r>
              <a:rPr lang="zh-TW" alt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整合方式</a:t>
            </a:r>
            <a:endParaRPr lang="en-US" sz="30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FE01A6-D030-366C-E193-31489E89643C}"/>
              </a:ext>
            </a:extLst>
          </p:cNvPr>
          <p:cNvSpPr/>
          <p:nvPr/>
        </p:nvSpPr>
        <p:spPr>
          <a:xfrm>
            <a:off x="10881360" y="50292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2B1B66-A908-0614-A8CB-AB90966E5F3D}"/>
              </a:ext>
            </a:extLst>
          </p:cNvPr>
          <p:cNvSpPr txBox="1"/>
          <p:nvPr/>
        </p:nvSpPr>
        <p:spPr>
          <a:xfrm>
            <a:off x="10881360" y="549086"/>
            <a:ext cx="77724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Calibri" panose="020F0502020204030204" pitchFamily="34" charset="0"/>
              </a:rPr>
              <a:t>01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13DDAC-D2B6-C658-8F8A-E590EA4179CE}"/>
              </a:ext>
            </a:extLst>
          </p:cNvPr>
          <p:cNvSpPr/>
          <p:nvPr/>
        </p:nvSpPr>
        <p:spPr>
          <a:xfrm>
            <a:off x="548640" y="1554480"/>
            <a:ext cx="11091672" cy="141732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DF85CE-7A59-C31D-2947-64AC09807842}"/>
              </a:ext>
            </a:extLst>
          </p:cNvPr>
          <p:cNvSpPr/>
          <p:nvPr/>
        </p:nvSpPr>
        <p:spPr>
          <a:xfrm>
            <a:off x="868680" y="1874520"/>
            <a:ext cx="777240" cy="77724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4CDAA-AD65-7B0F-2383-96AAF1E039D9}"/>
              </a:ext>
            </a:extLst>
          </p:cNvPr>
          <p:cNvSpPr txBox="1"/>
          <p:nvPr/>
        </p:nvSpPr>
        <p:spPr>
          <a:xfrm>
            <a:off x="868680" y="1812965"/>
            <a:ext cx="777240" cy="4001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600" b="1">
                <a:solidFill>
                  <a:srgbClr val="D4A017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5F21DD-C6E8-AC5F-0BD0-DEB0DDF56B1F}"/>
              </a:ext>
            </a:extLst>
          </p:cNvPr>
          <p:cNvSpPr txBox="1"/>
          <p:nvPr/>
        </p:nvSpPr>
        <p:spPr>
          <a:xfrm>
            <a:off x="1920240" y="1719072"/>
            <a:ext cx="932688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700" b="1">
                <a:solidFill>
                  <a:srgbClr val="1E2761"/>
                </a:solidFill>
                <a:latin typeface="Calibri" panose="020F0502020204030204" pitchFamily="34" charset="0"/>
              </a:rPr>
              <a:t>溝通協定</a:t>
            </a:r>
            <a:endParaRPr lang="en-US" sz="17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DA1839-1B92-F588-BC11-8FA579CFDF33}"/>
              </a:ext>
            </a:extLst>
          </p:cNvPr>
          <p:cNvSpPr txBox="1"/>
          <p:nvPr/>
        </p:nvSpPr>
        <p:spPr>
          <a:xfrm>
            <a:off x="1920240" y="2130552"/>
            <a:ext cx="950976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SOAP / WSDL（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非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OData、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非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REST），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沿用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SAP ByDesign 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經典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A2X Web Service 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整合模式。</a:t>
            </a:r>
            <a:endParaRPr lang="en-US" sz="125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C18FF9D-C648-DEB8-77AB-DFE74506B746}"/>
              </a:ext>
            </a:extLst>
          </p:cNvPr>
          <p:cNvSpPr/>
          <p:nvPr/>
        </p:nvSpPr>
        <p:spPr>
          <a:xfrm>
            <a:off x="548640" y="3154680"/>
            <a:ext cx="11091672" cy="141732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E4B2EF2-55E3-A5C4-F471-820270775896}"/>
              </a:ext>
            </a:extLst>
          </p:cNvPr>
          <p:cNvSpPr/>
          <p:nvPr/>
        </p:nvSpPr>
        <p:spPr>
          <a:xfrm>
            <a:off x="868680" y="3474720"/>
            <a:ext cx="777240" cy="77724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573CC8-009A-8134-6D0F-253B652C08EA}"/>
              </a:ext>
            </a:extLst>
          </p:cNvPr>
          <p:cNvSpPr txBox="1"/>
          <p:nvPr/>
        </p:nvSpPr>
        <p:spPr>
          <a:xfrm>
            <a:off x="868680" y="3413165"/>
            <a:ext cx="777240" cy="4001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600" b="1">
                <a:solidFill>
                  <a:srgbClr val="D4A017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B3D2D3-1CA4-3344-F7D5-47DD672C6E60}"/>
              </a:ext>
            </a:extLst>
          </p:cNvPr>
          <p:cNvSpPr txBox="1"/>
          <p:nvPr/>
        </p:nvSpPr>
        <p:spPr>
          <a:xfrm>
            <a:off x="1920240" y="3319272"/>
            <a:ext cx="932688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700" b="1">
                <a:solidFill>
                  <a:srgbClr val="1E2761"/>
                </a:solidFill>
                <a:latin typeface="Calibri" panose="020F0502020204030204" pitchFamily="34" charset="0"/>
              </a:rPr>
              <a:t>認證方式</a:t>
            </a:r>
            <a:endParaRPr lang="en-US" sz="17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95B559-CC89-C87D-06B7-799A07E1F8A4}"/>
              </a:ext>
            </a:extLst>
          </p:cNvPr>
          <p:cNvSpPr txBox="1"/>
          <p:nvPr/>
        </p:nvSpPr>
        <p:spPr>
          <a:xfrm>
            <a:off x="1920240" y="3730752"/>
            <a:ext cx="950976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SOAP 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層採用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HTTP Basic Auth，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帳密來自 </a:t>
            </a:r>
            <a:r>
              <a:rPr lang="en-US" altLang="zh-TW" sz="1250">
                <a:solidFill>
                  <a:srgbClr val="5B6B94"/>
                </a:solidFill>
                <a:latin typeface="Calibri" panose="020F0502020204030204" pitchFamily="34" charset="0"/>
              </a:rPr>
              <a:t>.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env 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的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BYD_login / BYD_password，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透過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config/soap_options.php 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統一管理連線選項。</a:t>
            </a:r>
            <a:endParaRPr lang="en-US" sz="125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3C2BE1-9BA0-E7FB-4CF2-5C8E766B3487}"/>
              </a:ext>
            </a:extLst>
          </p:cNvPr>
          <p:cNvSpPr/>
          <p:nvPr/>
        </p:nvSpPr>
        <p:spPr>
          <a:xfrm>
            <a:off x="548640" y="4754880"/>
            <a:ext cx="11091672" cy="141732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A1A659-E8CE-77A6-CC2D-BC90F29F1395}"/>
              </a:ext>
            </a:extLst>
          </p:cNvPr>
          <p:cNvSpPr/>
          <p:nvPr/>
        </p:nvSpPr>
        <p:spPr>
          <a:xfrm>
            <a:off x="868680" y="5074920"/>
            <a:ext cx="777240" cy="77724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D3145B-9728-2C38-5BC3-3539562BC7F3}"/>
              </a:ext>
            </a:extLst>
          </p:cNvPr>
          <p:cNvSpPr txBox="1"/>
          <p:nvPr/>
        </p:nvSpPr>
        <p:spPr>
          <a:xfrm>
            <a:off x="868680" y="5013365"/>
            <a:ext cx="777240" cy="4001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600" b="1">
                <a:solidFill>
                  <a:srgbClr val="D4A017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D9F6F7-B887-AF3D-8F9B-D0A03462C155}"/>
              </a:ext>
            </a:extLst>
          </p:cNvPr>
          <p:cNvSpPr txBox="1"/>
          <p:nvPr/>
        </p:nvSpPr>
        <p:spPr>
          <a:xfrm>
            <a:off x="1920240" y="4919472"/>
            <a:ext cx="932688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E2761"/>
                </a:solidFill>
                <a:latin typeface="Calibri" panose="020F0502020204030204" pitchFamily="34" charset="0"/>
              </a:rPr>
              <a:t>WSDL </a:t>
            </a:r>
            <a:r>
              <a:rPr lang="zh-TW" altLang="en-US" sz="1700" b="1">
                <a:solidFill>
                  <a:srgbClr val="1E2761"/>
                </a:solidFill>
                <a:latin typeface="Calibri" panose="020F0502020204030204" pitchFamily="34" charset="0"/>
              </a:rPr>
              <a:t>檔案管理</a:t>
            </a:r>
            <a:endParaRPr lang="en-US" sz="17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71C651-AAF3-1ADB-540D-C1EC05B41D46}"/>
              </a:ext>
            </a:extLst>
          </p:cNvPr>
          <p:cNvSpPr txBox="1"/>
          <p:nvPr/>
        </p:nvSpPr>
        <p:spPr>
          <a:xfrm>
            <a:off x="1920240" y="5330952"/>
            <a:ext cx="950976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經後台上傳，依環境分別存放於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storage/app/WSDL/test/ 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與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storage/app/WSDL/production/，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每次呼叫皆停用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WSDL 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快取。</a:t>
            </a:r>
            <a:endParaRPr lang="en-US" sz="125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009260-363F-559F-685C-43D58D6F26B9}"/>
              </a:ext>
            </a:extLst>
          </p:cNvPr>
          <p:cNvSpPr txBox="1"/>
          <p:nvPr/>
        </p:nvSpPr>
        <p:spPr>
          <a:xfrm>
            <a:off x="11247120" y="649224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>
                <a:solidFill>
                  <a:srgbClr val="9AA5C7"/>
                </a:solidFill>
                <a:latin typeface="Calibri" panose="020F050202020403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7419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8C5FED-FEAC-2FC7-5B5D-A010F196918F}"/>
              </a:ext>
            </a:extLst>
          </p:cNvPr>
          <p:cNvSpPr/>
          <p:nvPr/>
        </p:nvSpPr>
        <p:spPr>
          <a:xfrm>
            <a:off x="0" y="0"/>
            <a:ext cx="1219174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DD5FB-7F15-3199-1BFD-EEE6456A635B}"/>
              </a:ext>
            </a:extLst>
          </p:cNvPr>
          <p:cNvSpPr txBox="1"/>
          <p:nvPr/>
        </p:nvSpPr>
        <p:spPr>
          <a:xfrm>
            <a:off x="548640" y="457200"/>
            <a:ext cx="8686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SAP ByDesign Web Service </a:t>
            </a:r>
            <a:r>
              <a:rPr lang="zh-TW" alt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清單 </a:t>
            </a:r>
            <a:r>
              <a:rPr lang="en-US" altLang="zh-TW" sz="3000" b="1">
                <a:solidFill>
                  <a:srgbClr val="1E2761"/>
                </a:solidFill>
                <a:latin typeface="Calibri" panose="020F0502020204030204" pitchFamily="34" charset="0"/>
              </a:rPr>
              <a:t>(1/2)</a:t>
            </a:r>
            <a:endParaRPr lang="en-US" sz="30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46F351-F455-7955-11DE-21F76A36DFB9}"/>
              </a:ext>
            </a:extLst>
          </p:cNvPr>
          <p:cNvSpPr/>
          <p:nvPr/>
        </p:nvSpPr>
        <p:spPr>
          <a:xfrm>
            <a:off x="10881360" y="50292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47B185-DB03-2669-C8D1-300708E7427A}"/>
              </a:ext>
            </a:extLst>
          </p:cNvPr>
          <p:cNvSpPr txBox="1"/>
          <p:nvPr/>
        </p:nvSpPr>
        <p:spPr>
          <a:xfrm>
            <a:off x="10881360" y="549086"/>
            <a:ext cx="77724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Calibri" panose="020F0502020204030204" pitchFamily="34" charset="0"/>
              </a:rPr>
              <a:t>01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2BE43D-5843-61F5-49F6-157BE6DB0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434015"/>
              </p:ext>
            </p:extLst>
          </p:nvPr>
        </p:nvGraphicFramePr>
        <p:xfrm>
          <a:off x="548640" y="1371600"/>
          <a:ext cx="11091672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333871203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608030112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6346140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9836663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業務物件</a:t>
                      </a:r>
                      <a:endParaRPr lang="en-US" sz="13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SAP ByD Web Service</a:t>
                      </a:r>
                    </a:p>
                  </a:txBody>
                  <a:tcPr marL="76200" marR="76200" marT="50800" marB="508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SOAP </a:t>
                      </a:r>
                      <a:r>
                        <a:rPr lang="zh-TW" alt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操作</a:t>
                      </a:r>
                      <a:endParaRPr lang="en-US" sz="13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用途</a:t>
                      </a:r>
                      <a:endParaRPr lang="en-US" sz="13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3935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銷售訂單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Manage Sales Orders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MaintainBundle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建立/更新/取消 SO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95914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銷售訂單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Query Sales Orders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FindByElements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查詢 </a:t>
                      </a:r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SO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171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採購訂單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Manage Purchase Orders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ManagePurchaseOrderInMaintainBundle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建立</a:t>
                      </a:r>
                      <a:r>
                        <a:rPr lang="en-US" altLang="zh-TW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/</a:t>
                      </a:r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更新 </a:t>
                      </a:r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PO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8724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採購訂單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Query Purchase Orders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FindSimpleByElements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查詢 </a:t>
                      </a:r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PO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11182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客戶</a:t>
                      </a:r>
                      <a:r>
                        <a:rPr lang="en-US" altLang="zh-TW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/</a:t>
                      </a:r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帳戶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Manage Accounts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MaintainBundle_V1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建立客戶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2993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供應商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Manage Suppliers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MaintainBundle_V1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建立供應商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37904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供應商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Query Suppliers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FindByElements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查詢供應商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89492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物料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Manage Materials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MaintainBundle_V1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建立</a:t>
                      </a:r>
                      <a:r>
                        <a:rPr lang="en-US" altLang="zh-TW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/</a:t>
                      </a:r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更新物料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768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87BBB61-A2D9-4D66-7CD3-1B62EB29867F}"/>
              </a:ext>
            </a:extLst>
          </p:cNvPr>
          <p:cNvSpPr txBox="1"/>
          <p:nvPr/>
        </p:nvSpPr>
        <p:spPr>
          <a:xfrm>
            <a:off x="11247120" y="649224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>
                <a:solidFill>
                  <a:srgbClr val="9AA5C7"/>
                </a:solidFill>
                <a:latin typeface="Calibri" panose="020F050202020403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56467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E7B92D-95DC-9240-B347-D9A2F0C7F84B}"/>
              </a:ext>
            </a:extLst>
          </p:cNvPr>
          <p:cNvSpPr/>
          <p:nvPr/>
        </p:nvSpPr>
        <p:spPr>
          <a:xfrm>
            <a:off x="0" y="0"/>
            <a:ext cx="1219174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1062F-9AEC-5DCA-46BF-C380576A0620}"/>
              </a:ext>
            </a:extLst>
          </p:cNvPr>
          <p:cNvSpPr txBox="1"/>
          <p:nvPr/>
        </p:nvSpPr>
        <p:spPr>
          <a:xfrm>
            <a:off x="548640" y="457200"/>
            <a:ext cx="8686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SAP ByDesign Web Service </a:t>
            </a:r>
            <a:r>
              <a:rPr lang="zh-TW" alt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清單 </a:t>
            </a:r>
            <a:r>
              <a:rPr lang="en-US" altLang="zh-TW" sz="3000" b="1">
                <a:solidFill>
                  <a:srgbClr val="1E2761"/>
                </a:solidFill>
                <a:latin typeface="Calibri" panose="020F0502020204030204" pitchFamily="34" charset="0"/>
              </a:rPr>
              <a:t>(2/2)</a:t>
            </a:r>
            <a:endParaRPr lang="en-US" sz="30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929E64-9FC4-AD20-9088-0FDEC85A97B4}"/>
              </a:ext>
            </a:extLst>
          </p:cNvPr>
          <p:cNvSpPr/>
          <p:nvPr/>
        </p:nvSpPr>
        <p:spPr>
          <a:xfrm>
            <a:off x="10881360" y="50292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81D0AA-D2E4-84B6-32DB-F8708BEEC5B7}"/>
              </a:ext>
            </a:extLst>
          </p:cNvPr>
          <p:cNvSpPr txBox="1"/>
          <p:nvPr/>
        </p:nvSpPr>
        <p:spPr>
          <a:xfrm>
            <a:off x="10881360" y="549086"/>
            <a:ext cx="77724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Calibri" panose="020F0502020204030204" pitchFamily="34" charset="0"/>
              </a:rPr>
              <a:t>01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48C317-18A8-95D9-4AD2-4494C76A8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394788"/>
              </p:ext>
            </p:extLst>
          </p:nvPr>
        </p:nvGraphicFramePr>
        <p:xfrm>
          <a:off x="548640" y="1371600"/>
          <a:ext cx="11091672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70900999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119547926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35477115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4704407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業務物件</a:t>
                      </a:r>
                      <a:endParaRPr lang="en-US" sz="13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SAP ByD Web Service</a:t>
                      </a:r>
                    </a:p>
                  </a:txBody>
                  <a:tcPr marL="76200" marR="76200" marT="50800" marB="508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SOAP </a:t>
                      </a:r>
                      <a:r>
                        <a:rPr lang="zh-TW" alt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操作</a:t>
                      </a:r>
                      <a:endParaRPr lang="en-US" sz="13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用途</a:t>
                      </a:r>
                      <a:endParaRPr lang="en-US" sz="13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76239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物料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Query Materials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FindByElements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查詢物料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7131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物料估價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Manage Material Valuations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MaintainBundle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設定物料成本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44944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服務產品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Manage Service Products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MaintainBundle_V1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建立服務產品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88899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服務產品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Query Service Products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FindByElements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查詢服務產品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34732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服務產品估價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Manage Service Product Valuations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MaintainBundle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設定成本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0167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價目表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Manage List Prices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MaintainBundle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建立價目表項目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21865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預付款發票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Manage Downpayment Customer Invoice Request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MaintainBundle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建立預付款請求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08482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匯率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Manage Exchange Rates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MaintainBundle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維護匯率</a:t>
                      </a:r>
                      <a:endParaRPr lang="en-US" sz="125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3832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6BED60-5DBF-D389-A8E9-93477C1EFE2D}"/>
              </a:ext>
            </a:extLst>
          </p:cNvPr>
          <p:cNvSpPr txBox="1"/>
          <p:nvPr/>
        </p:nvSpPr>
        <p:spPr>
          <a:xfrm>
            <a:off x="11247120" y="649224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>
                <a:solidFill>
                  <a:srgbClr val="9AA5C7"/>
                </a:solidFill>
                <a:latin typeface="Calibri" panose="020F050202020403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68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FA3A3A-4DCE-85FE-6139-E6139A97A405}"/>
              </a:ext>
            </a:extLst>
          </p:cNvPr>
          <p:cNvSpPr/>
          <p:nvPr/>
        </p:nvSpPr>
        <p:spPr>
          <a:xfrm>
            <a:off x="0" y="0"/>
            <a:ext cx="1219174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86E84-3E36-5F0B-B60B-C9BB61EA2CB3}"/>
              </a:ext>
            </a:extLst>
          </p:cNvPr>
          <p:cNvSpPr txBox="1"/>
          <p:nvPr/>
        </p:nvSpPr>
        <p:spPr>
          <a:xfrm>
            <a:off x="548640" y="457200"/>
            <a:ext cx="8686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備註：未接線 </a:t>
            </a:r>
            <a:r>
              <a:rPr lang="en-US" altLang="zh-TW" sz="3000" b="1">
                <a:solidFill>
                  <a:srgbClr val="1E2761"/>
                </a:solidFill>
                <a:latin typeface="Calibri" panose="020F0502020204030204" pitchFamily="34" charset="0"/>
              </a:rPr>
              <a:t>/ </a:t>
            </a:r>
            <a:r>
              <a:rPr lang="zh-TW" alt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未使用項目</a:t>
            </a:r>
            <a:endParaRPr lang="en-US" sz="30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C4359E-3107-B884-3C93-2D1BCF7D516B}"/>
              </a:ext>
            </a:extLst>
          </p:cNvPr>
          <p:cNvSpPr/>
          <p:nvPr/>
        </p:nvSpPr>
        <p:spPr>
          <a:xfrm>
            <a:off x="10881360" y="50292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86F31-7644-4F6D-B3C1-941E912C6E88}"/>
              </a:ext>
            </a:extLst>
          </p:cNvPr>
          <p:cNvSpPr txBox="1"/>
          <p:nvPr/>
        </p:nvSpPr>
        <p:spPr>
          <a:xfrm>
            <a:off x="10881360" y="549086"/>
            <a:ext cx="77724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Calibri" panose="020F0502020204030204" pitchFamily="34" charset="0"/>
              </a:rPr>
              <a:t>01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08168B-3046-654F-1721-179547F34784}"/>
              </a:ext>
            </a:extLst>
          </p:cNvPr>
          <p:cNvSpPr/>
          <p:nvPr/>
        </p:nvSpPr>
        <p:spPr>
          <a:xfrm>
            <a:off x="548640" y="155448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FBE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CB2CF1-B569-9E5E-561D-C0F35BE83DFF}"/>
              </a:ext>
            </a:extLst>
          </p:cNvPr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D4A0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2D9C52-B720-D755-DB1F-C3515F301F06}"/>
              </a:ext>
            </a:extLst>
          </p:cNvPr>
          <p:cNvSpPr txBox="1"/>
          <p:nvPr/>
        </p:nvSpPr>
        <p:spPr>
          <a:xfrm>
            <a:off x="868680" y="1843743"/>
            <a:ext cx="502920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C20B31-E0F8-5070-F037-21FF0F4BD3B7}"/>
              </a:ext>
            </a:extLst>
          </p:cNvPr>
          <p:cNvSpPr txBox="1"/>
          <p:nvPr/>
        </p:nvSpPr>
        <p:spPr>
          <a:xfrm>
            <a:off x="868680" y="2514600"/>
            <a:ext cx="466344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600" b="1">
                <a:solidFill>
                  <a:srgbClr val="1E2761"/>
                </a:solidFill>
                <a:latin typeface="Calibri" panose="020F0502020204030204" pitchFamily="34" charset="0"/>
              </a:rPr>
              <a:t>查詢類服務有 </a:t>
            </a:r>
            <a:r>
              <a:rPr lang="en-US" altLang="zh-TW" sz="1600" b="1">
                <a:solidFill>
                  <a:srgbClr val="1E2761"/>
                </a:solidFill>
                <a:latin typeface="Calibri" panose="020F0502020204030204" pitchFamily="34" charset="0"/>
              </a:rPr>
              <a:t>WSDL</a:t>
            </a:r>
            <a:r>
              <a:rPr lang="zh-TW" altLang="en-US" sz="1600" b="1">
                <a:solidFill>
                  <a:srgbClr val="1E2761"/>
                </a:solidFill>
                <a:latin typeface="Calibri" panose="020F0502020204030204" pitchFamily="34" charset="0"/>
              </a:rPr>
              <a:t>、無呼叫程式碼</a:t>
            </a:r>
            <a:endParaRPr lang="en-US" sz="16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04FC7B-1D1C-721F-5FCA-E78ED3C11301}"/>
              </a:ext>
            </a:extLst>
          </p:cNvPr>
          <p:cNvSpPr txBox="1"/>
          <p:nvPr/>
        </p:nvSpPr>
        <p:spPr>
          <a:xfrm>
            <a:off x="868680" y="3246120"/>
            <a:ext cx="4663440" cy="57708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Query Accounts、Query Customer Invoices、Query Supplier Invoice Query In、Query Exchange Rates 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皆有對應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WSDL fixture，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但目前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app/ 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程式碼中找不到實際呼叫，推測為保留給未來功能或已棄用。</a:t>
            </a:r>
            <a:endParaRPr lang="en-US" sz="125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B552634-405C-D2EB-F4F0-A8C7CA289BF3}"/>
              </a:ext>
            </a:extLst>
          </p:cNvPr>
          <p:cNvSpPr/>
          <p:nvPr/>
        </p:nvSpPr>
        <p:spPr>
          <a:xfrm>
            <a:off x="6309360" y="155448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FBE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25CFDA7-44B5-B28B-430B-53786BE35B48}"/>
              </a:ext>
            </a:extLst>
          </p:cNvPr>
          <p:cNvSpPr/>
          <p:nvPr/>
        </p:nvSpPr>
        <p:spPr>
          <a:xfrm>
            <a:off x="6629400" y="1874520"/>
            <a:ext cx="502920" cy="502920"/>
          </a:xfrm>
          <a:prstGeom prst="ellipse">
            <a:avLst/>
          </a:prstGeom>
          <a:solidFill>
            <a:srgbClr val="D4A0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1B6F00-403D-F856-6E8B-73106EFA4E69}"/>
              </a:ext>
            </a:extLst>
          </p:cNvPr>
          <p:cNvSpPr txBox="1"/>
          <p:nvPr/>
        </p:nvSpPr>
        <p:spPr>
          <a:xfrm>
            <a:off x="6629400" y="1843743"/>
            <a:ext cx="502920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0CB9EC-7CFB-2AE7-02C0-764315749A24}"/>
              </a:ext>
            </a:extLst>
          </p:cNvPr>
          <p:cNvSpPr txBox="1"/>
          <p:nvPr/>
        </p:nvSpPr>
        <p:spPr>
          <a:xfrm>
            <a:off x="6629400" y="2514600"/>
            <a:ext cx="466344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1E2761"/>
                </a:solidFill>
                <a:latin typeface="Calibri" panose="020F0502020204030204" pitchFamily="34" charset="0"/>
              </a:rPr>
              <a:t>SapByDSoapClient </a:t>
            </a:r>
            <a:r>
              <a:rPr lang="zh-TW" altLang="en-US" sz="1600" b="1">
                <a:solidFill>
                  <a:srgbClr val="1E2761"/>
                </a:solidFill>
                <a:latin typeface="Calibri" panose="020F0502020204030204" pitchFamily="34" charset="0"/>
              </a:rPr>
              <a:t>重構層未被使用</a:t>
            </a:r>
            <a:endParaRPr lang="en-US" sz="16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B90891-C524-A183-6170-5A22A0E99DC9}"/>
              </a:ext>
            </a:extLst>
          </p:cNvPr>
          <p:cNvSpPr txBox="1"/>
          <p:nvPr/>
        </p:nvSpPr>
        <p:spPr>
          <a:xfrm>
            <a:off x="6629400" y="3246120"/>
            <a:ext cx="4663440" cy="57708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app/SapByDesign/Clients/SapByDSoapClient.php 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與其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WebServices/* wrapper 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提供更乾淨的呼叫介面，但目前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app/ 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與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tests/ 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中沒有任何地方實際 </a:t>
            </a:r>
            <a:r>
              <a:rPr lang="en-US" sz="1250">
                <a:solidFill>
                  <a:srgbClr val="5B6B94"/>
                </a:solidFill>
                <a:latin typeface="Calibri" panose="020F0502020204030204" pitchFamily="34" charset="0"/>
              </a:rPr>
              <a:t>instantiate </a:t>
            </a:r>
            <a:r>
              <a:rPr lang="zh-TW" altLang="en-US" sz="1250">
                <a:solidFill>
                  <a:srgbClr val="5B6B94"/>
                </a:solidFill>
                <a:latin typeface="Calibri" panose="020F0502020204030204" pitchFamily="34" charset="0"/>
              </a:rPr>
              <a:t>這個類別，屬於未完成、未接線的替代實作。</a:t>
            </a:r>
            <a:endParaRPr lang="en-US" sz="125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3E4590-BBA3-4DE6-9717-14859BCB4447}"/>
              </a:ext>
            </a:extLst>
          </p:cNvPr>
          <p:cNvSpPr txBox="1"/>
          <p:nvPr/>
        </p:nvSpPr>
        <p:spPr>
          <a:xfrm>
            <a:off x="11247120" y="649224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>
                <a:solidFill>
                  <a:srgbClr val="9AA5C7"/>
                </a:solidFill>
                <a:latin typeface="Calibri" panose="020F050202020403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05815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AF8BAA-E412-6E8C-7228-18E06C6EC24D}"/>
              </a:ext>
            </a:extLst>
          </p:cNvPr>
          <p:cNvSpPr/>
          <p:nvPr/>
        </p:nvSpPr>
        <p:spPr>
          <a:xfrm>
            <a:off x="0" y="0"/>
            <a:ext cx="1219174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2A54C1-B8AD-DA8C-1277-B126BAC94BB3}"/>
              </a:ext>
            </a:extLst>
          </p:cNvPr>
          <p:cNvSpPr txBox="1"/>
          <p:nvPr/>
        </p:nvSpPr>
        <p:spPr>
          <a:xfrm>
            <a:off x="548640" y="457200"/>
            <a:ext cx="8686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app/Admin </a:t>
            </a:r>
            <a:r>
              <a:rPr lang="zh-TW" alt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後台管理面板功能地圖</a:t>
            </a:r>
            <a:endParaRPr lang="en-US" sz="30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9DF217-7282-7366-6577-A99FCA4EEF51}"/>
              </a:ext>
            </a:extLst>
          </p:cNvPr>
          <p:cNvSpPr/>
          <p:nvPr/>
        </p:nvSpPr>
        <p:spPr>
          <a:xfrm>
            <a:off x="10881360" y="50292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953E9-C5C3-A7B8-4800-2034B5B70827}"/>
              </a:ext>
            </a:extLst>
          </p:cNvPr>
          <p:cNvSpPr txBox="1"/>
          <p:nvPr/>
        </p:nvSpPr>
        <p:spPr>
          <a:xfrm>
            <a:off x="10881360" y="549086"/>
            <a:ext cx="77724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Calibri" panose="020F0502020204030204" pitchFamily="34" charset="0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97D566-0C2E-0232-9500-062E2C6E2DF7}"/>
              </a:ext>
            </a:extLst>
          </p:cNvPr>
          <p:cNvSpPr/>
          <p:nvPr/>
        </p:nvSpPr>
        <p:spPr>
          <a:xfrm>
            <a:off x="457200" y="123444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5A9BA2-CDFE-D80D-8BBD-96F99DE1946F}"/>
              </a:ext>
            </a:extLst>
          </p:cNvPr>
          <p:cNvSpPr/>
          <p:nvPr/>
        </p:nvSpPr>
        <p:spPr>
          <a:xfrm>
            <a:off x="621792" y="1399032"/>
            <a:ext cx="411480" cy="41148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10CEB2-E4C0-B597-849C-327CD6958AF1}"/>
              </a:ext>
            </a:extLst>
          </p:cNvPr>
          <p:cNvSpPr txBox="1"/>
          <p:nvPr/>
        </p:nvSpPr>
        <p:spPr>
          <a:xfrm>
            <a:off x="621792" y="1437504"/>
            <a:ext cx="41148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D4A017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4E8D32-5E11-4E24-6628-B09888140DAC}"/>
              </a:ext>
            </a:extLst>
          </p:cNvPr>
          <p:cNvSpPr txBox="1"/>
          <p:nvPr/>
        </p:nvSpPr>
        <p:spPr>
          <a:xfrm>
            <a:off x="1143000" y="1353312"/>
            <a:ext cx="27432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銷售訂單管理</a:t>
            </a:r>
            <a:endParaRPr lang="en-US" sz="135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686BE3-BCB4-F55A-1736-EDBC304AF75D}"/>
              </a:ext>
            </a:extLst>
          </p:cNvPr>
          <p:cNvSpPr txBox="1"/>
          <p:nvPr/>
        </p:nvSpPr>
        <p:spPr>
          <a:xfrm>
            <a:off x="1143000" y="1709928"/>
            <a:ext cx="2743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Mso / Sso / 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銷退 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/ 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客戶發票</a:t>
            </a:r>
            <a:endParaRPr lang="en-US" sz="10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89783C7-849D-E82E-2F7B-4A6E255F8DE2}"/>
              </a:ext>
            </a:extLst>
          </p:cNvPr>
          <p:cNvSpPr/>
          <p:nvPr/>
        </p:nvSpPr>
        <p:spPr>
          <a:xfrm>
            <a:off x="4251960" y="1234440"/>
            <a:ext cx="3611879" cy="11430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F44251-2663-8FEF-A770-ED61B6E233ED}"/>
              </a:ext>
            </a:extLst>
          </p:cNvPr>
          <p:cNvSpPr/>
          <p:nvPr/>
        </p:nvSpPr>
        <p:spPr>
          <a:xfrm>
            <a:off x="4416552" y="1399032"/>
            <a:ext cx="411480" cy="41148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E829C0-F928-5392-9C48-7DD17118E4FC}"/>
              </a:ext>
            </a:extLst>
          </p:cNvPr>
          <p:cNvSpPr txBox="1"/>
          <p:nvPr/>
        </p:nvSpPr>
        <p:spPr>
          <a:xfrm>
            <a:off x="4416552" y="1437504"/>
            <a:ext cx="41148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D4A017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B3117F-0A12-CEDB-F4AE-6FC4F94E8B17}"/>
              </a:ext>
            </a:extLst>
          </p:cNvPr>
          <p:cNvSpPr txBox="1"/>
          <p:nvPr/>
        </p:nvSpPr>
        <p:spPr>
          <a:xfrm>
            <a:off x="4937760" y="1353312"/>
            <a:ext cx="27432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採購訂單管理</a:t>
            </a:r>
            <a:endParaRPr lang="en-US" sz="135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6EEDFD-5FE0-C5BC-586D-C69056DA3F40}"/>
              </a:ext>
            </a:extLst>
          </p:cNvPr>
          <p:cNvSpPr txBox="1"/>
          <p:nvPr/>
        </p:nvSpPr>
        <p:spPr>
          <a:xfrm>
            <a:off x="4937760" y="1709928"/>
            <a:ext cx="2743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>
                <a:solidFill>
                  <a:srgbClr val="5B6B94"/>
                </a:solidFill>
                <a:latin typeface="Calibri" panose="020F0502020204030204" pitchFamily="34" charset="0"/>
              </a:rPr>
              <a:t>Mpo / Spo / 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供應商發票</a:t>
            </a:r>
            <a:endParaRPr lang="en-US" sz="10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6975126-96EE-CE54-3EFD-A2A1F2F12193}"/>
              </a:ext>
            </a:extLst>
          </p:cNvPr>
          <p:cNvSpPr/>
          <p:nvPr/>
        </p:nvSpPr>
        <p:spPr>
          <a:xfrm>
            <a:off x="8046720" y="123444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D213E26-4ED6-B6A2-79F1-1630093903A3}"/>
              </a:ext>
            </a:extLst>
          </p:cNvPr>
          <p:cNvSpPr/>
          <p:nvPr/>
        </p:nvSpPr>
        <p:spPr>
          <a:xfrm>
            <a:off x="8211312" y="1399032"/>
            <a:ext cx="411480" cy="41148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B8766C-8D7E-C9BC-03AF-64D39181D35F}"/>
              </a:ext>
            </a:extLst>
          </p:cNvPr>
          <p:cNvSpPr txBox="1"/>
          <p:nvPr/>
        </p:nvSpPr>
        <p:spPr>
          <a:xfrm>
            <a:off x="8211312" y="1437504"/>
            <a:ext cx="41148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D4A017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C418B6-81D3-CD93-541E-FC08615E4EE2}"/>
              </a:ext>
            </a:extLst>
          </p:cNvPr>
          <p:cNvSpPr txBox="1"/>
          <p:nvPr/>
        </p:nvSpPr>
        <p:spPr>
          <a:xfrm>
            <a:off x="8732520" y="1353312"/>
            <a:ext cx="27432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主資料管理</a:t>
            </a:r>
            <a:endParaRPr lang="en-US" sz="135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0423D5-A216-C438-7A11-C56E4D3E6D67}"/>
              </a:ext>
            </a:extLst>
          </p:cNvPr>
          <p:cNvSpPr txBox="1"/>
          <p:nvPr/>
        </p:nvSpPr>
        <p:spPr>
          <a:xfrm>
            <a:off x="8732520" y="1709928"/>
            <a:ext cx="2743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員工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/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物料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/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服務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/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供應商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/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客戶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/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價目表</a:t>
            </a:r>
            <a:endParaRPr lang="en-US" sz="10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99E2494-63AC-255A-3E38-82A1719174B1}"/>
              </a:ext>
            </a:extLst>
          </p:cNvPr>
          <p:cNvSpPr/>
          <p:nvPr/>
        </p:nvSpPr>
        <p:spPr>
          <a:xfrm>
            <a:off x="457200" y="256032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AA40BB6-6D23-8B54-A7E1-DA9F83A0C120}"/>
              </a:ext>
            </a:extLst>
          </p:cNvPr>
          <p:cNvSpPr/>
          <p:nvPr/>
        </p:nvSpPr>
        <p:spPr>
          <a:xfrm>
            <a:off x="621792" y="2724912"/>
            <a:ext cx="411480" cy="41148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8B663B-6BE6-64A9-72C2-147C416F8567}"/>
              </a:ext>
            </a:extLst>
          </p:cNvPr>
          <p:cNvSpPr txBox="1"/>
          <p:nvPr/>
        </p:nvSpPr>
        <p:spPr>
          <a:xfrm>
            <a:off x="621792" y="2763384"/>
            <a:ext cx="41148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D4A017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458F41-C7AC-34ED-CF14-6A324E791828}"/>
              </a:ext>
            </a:extLst>
          </p:cNvPr>
          <p:cNvSpPr txBox="1"/>
          <p:nvPr/>
        </p:nvSpPr>
        <p:spPr>
          <a:xfrm>
            <a:off x="1143000" y="2679192"/>
            <a:ext cx="27432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匯率</a:t>
            </a:r>
            <a:r>
              <a:rPr lang="en-US" altLang="zh-TW" sz="1350" b="1">
                <a:solidFill>
                  <a:srgbClr val="1E2761"/>
                </a:solidFill>
                <a:latin typeface="Calibri" panose="020F0502020204030204" pitchFamily="34" charset="0"/>
              </a:rPr>
              <a:t>/</a:t>
            </a:r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幣別管理</a:t>
            </a:r>
            <a:endParaRPr lang="en-US" sz="135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13AE5D-A797-5EEB-9E7E-076C2C443D79}"/>
              </a:ext>
            </a:extLst>
          </p:cNvPr>
          <p:cNvSpPr txBox="1"/>
          <p:nvPr/>
        </p:nvSpPr>
        <p:spPr>
          <a:xfrm>
            <a:off x="1143000" y="3035808"/>
            <a:ext cx="2743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台銀匯率自動抓取 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+ 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手動輸入</a:t>
            </a:r>
            <a:endParaRPr lang="en-US" sz="10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D175580-7914-61FD-195B-F22A1854B053}"/>
              </a:ext>
            </a:extLst>
          </p:cNvPr>
          <p:cNvSpPr/>
          <p:nvPr/>
        </p:nvSpPr>
        <p:spPr>
          <a:xfrm>
            <a:off x="4251960" y="2560320"/>
            <a:ext cx="3611879" cy="11430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83355EF-80DC-20DE-5D71-02A26E4C10AE}"/>
              </a:ext>
            </a:extLst>
          </p:cNvPr>
          <p:cNvSpPr/>
          <p:nvPr/>
        </p:nvSpPr>
        <p:spPr>
          <a:xfrm>
            <a:off x="4416552" y="2724912"/>
            <a:ext cx="411480" cy="41148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E31272-1837-2A4D-AC43-1BE779298EE9}"/>
              </a:ext>
            </a:extLst>
          </p:cNvPr>
          <p:cNvSpPr txBox="1"/>
          <p:nvPr/>
        </p:nvSpPr>
        <p:spPr>
          <a:xfrm>
            <a:off x="4416552" y="2763384"/>
            <a:ext cx="41148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D4A017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545357-3B5B-276B-D39F-B7AE1C9FABA6}"/>
              </a:ext>
            </a:extLst>
          </p:cNvPr>
          <p:cNvSpPr txBox="1"/>
          <p:nvPr/>
        </p:nvSpPr>
        <p:spPr>
          <a:xfrm>
            <a:off x="4937760" y="2679192"/>
            <a:ext cx="27432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促銷折扣碼管理</a:t>
            </a:r>
            <a:endParaRPr lang="en-US" sz="135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255831-1732-FED4-C201-1FF4859C77FC}"/>
              </a:ext>
            </a:extLst>
          </p:cNvPr>
          <p:cNvSpPr txBox="1"/>
          <p:nvPr/>
        </p:nvSpPr>
        <p:spPr>
          <a:xfrm>
            <a:off x="4937760" y="3035808"/>
            <a:ext cx="2743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折扣碼建立與 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CRM 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同步</a:t>
            </a:r>
            <a:endParaRPr lang="en-US" sz="10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4A94B7C-DF1F-C80B-FFC6-290A5788B8D5}"/>
              </a:ext>
            </a:extLst>
          </p:cNvPr>
          <p:cNvSpPr/>
          <p:nvPr/>
        </p:nvSpPr>
        <p:spPr>
          <a:xfrm>
            <a:off x="8046720" y="256032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5AFFF4E-20B2-D858-CF42-3E490F6DF200}"/>
              </a:ext>
            </a:extLst>
          </p:cNvPr>
          <p:cNvSpPr/>
          <p:nvPr/>
        </p:nvSpPr>
        <p:spPr>
          <a:xfrm>
            <a:off x="8211312" y="2724912"/>
            <a:ext cx="411480" cy="41148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D79393-BDD3-EE8C-582F-D700D5057BC7}"/>
              </a:ext>
            </a:extLst>
          </p:cNvPr>
          <p:cNvSpPr txBox="1"/>
          <p:nvPr/>
        </p:nvSpPr>
        <p:spPr>
          <a:xfrm>
            <a:off x="8211312" y="2763384"/>
            <a:ext cx="41148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D4A017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55B226-2124-697A-21AC-01BF26555D97}"/>
              </a:ext>
            </a:extLst>
          </p:cNvPr>
          <p:cNvSpPr txBox="1"/>
          <p:nvPr/>
        </p:nvSpPr>
        <p:spPr>
          <a:xfrm>
            <a:off x="8732520" y="2679192"/>
            <a:ext cx="27432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營收報表</a:t>
            </a:r>
            <a:r>
              <a:rPr lang="en-US" altLang="zh-TW" sz="1350" b="1">
                <a:solidFill>
                  <a:srgbClr val="1E2761"/>
                </a:solidFill>
                <a:latin typeface="Calibri" panose="020F0502020204030204" pitchFamily="34" charset="0"/>
              </a:rPr>
              <a:t>/</a:t>
            </a:r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儀表板</a:t>
            </a:r>
            <a:endParaRPr lang="en-US" sz="135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6595DF-72C1-F76D-3640-7DB0DEC3C2A9}"/>
              </a:ext>
            </a:extLst>
          </p:cNvPr>
          <p:cNvSpPr txBox="1"/>
          <p:nvPr/>
        </p:nvSpPr>
        <p:spPr>
          <a:xfrm>
            <a:off x="8732520" y="3035808"/>
            <a:ext cx="2743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依事業單位圖表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(</a:t>
            </a:r>
            <a:r>
              <a:rPr lang="en-US" sz="1000">
                <a:solidFill>
                  <a:srgbClr val="5B6B94"/>
                </a:solidFill>
                <a:latin typeface="Calibri" panose="020F0502020204030204" pitchFamily="34" charset="0"/>
              </a:rPr>
              <a:t>B2C/OwlNest/Experiences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等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)</a:t>
            </a:r>
            <a:endParaRPr lang="en-US" sz="10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939CDF4-9689-74D5-D902-B8EB6E71D873}"/>
              </a:ext>
            </a:extLst>
          </p:cNvPr>
          <p:cNvSpPr/>
          <p:nvPr/>
        </p:nvSpPr>
        <p:spPr>
          <a:xfrm>
            <a:off x="457200" y="388620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9FC7685-B0BE-9C48-3D63-065DC68A77D6}"/>
              </a:ext>
            </a:extLst>
          </p:cNvPr>
          <p:cNvSpPr/>
          <p:nvPr/>
        </p:nvSpPr>
        <p:spPr>
          <a:xfrm>
            <a:off x="621792" y="4050792"/>
            <a:ext cx="411480" cy="41148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73279C-F420-A525-B85B-940477CEF979}"/>
              </a:ext>
            </a:extLst>
          </p:cNvPr>
          <p:cNvSpPr txBox="1"/>
          <p:nvPr/>
        </p:nvSpPr>
        <p:spPr>
          <a:xfrm>
            <a:off x="621792" y="4089264"/>
            <a:ext cx="41148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D4A017"/>
                </a:solidFill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84E583-5B4C-B645-B64E-CD8E32B53959}"/>
              </a:ext>
            </a:extLst>
          </p:cNvPr>
          <p:cNvSpPr txBox="1"/>
          <p:nvPr/>
        </p:nvSpPr>
        <p:spPr>
          <a:xfrm>
            <a:off x="1143000" y="4005072"/>
            <a:ext cx="27432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WSDL </a:t>
            </a:r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上傳設定</a:t>
            </a:r>
            <a:endParaRPr lang="en-US" sz="135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4401CB-46FE-5B3F-8E99-E76BB4C297E5}"/>
              </a:ext>
            </a:extLst>
          </p:cNvPr>
          <p:cNvSpPr txBox="1"/>
          <p:nvPr/>
        </p:nvSpPr>
        <p:spPr>
          <a:xfrm>
            <a:off x="1143000" y="4361688"/>
            <a:ext cx="2743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管理 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SAP SOAP 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服務對應 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WSDL</a:t>
            </a:r>
            <a:endParaRPr lang="en-US" sz="10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ED4FB0C-0AB7-7D03-9323-D3AFF2F51225}"/>
              </a:ext>
            </a:extLst>
          </p:cNvPr>
          <p:cNvSpPr/>
          <p:nvPr/>
        </p:nvSpPr>
        <p:spPr>
          <a:xfrm>
            <a:off x="4251960" y="3886200"/>
            <a:ext cx="3611879" cy="11430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8B251B7-28FD-7489-7AE9-31B860379EC6}"/>
              </a:ext>
            </a:extLst>
          </p:cNvPr>
          <p:cNvSpPr/>
          <p:nvPr/>
        </p:nvSpPr>
        <p:spPr>
          <a:xfrm>
            <a:off x="4416552" y="4050792"/>
            <a:ext cx="411480" cy="41148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1EF096-0C55-77FF-C251-41AF1199312B}"/>
              </a:ext>
            </a:extLst>
          </p:cNvPr>
          <p:cNvSpPr txBox="1"/>
          <p:nvPr/>
        </p:nvSpPr>
        <p:spPr>
          <a:xfrm>
            <a:off x="4416552" y="4089264"/>
            <a:ext cx="41148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D4A017"/>
                </a:solidFill>
                <a:latin typeface="Calibri" panose="020F0502020204030204" pitchFamily="34" charset="0"/>
              </a:rPr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AAB43C-2A5D-6567-E478-FE71D8E5AC9E}"/>
              </a:ext>
            </a:extLst>
          </p:cNvPr>
          <p:cNvSpPr txBox="1"/>
          <p:nvPr/>
        </p:nvSpPr>
        <p:spPr>
          <a:xfrm>
            <a:off x="4937760" y="4005072"/>
            <a:ext cx="27432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日誌管理</a:t>
            </a:r>
            <a:endParaRPr lang="en-US" sz="135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CC1970-2821-B1EA-4481-1BD2975E050A}"/>
              </a:ext>
            </a:extLst>
          </p:cNvPr>
          <p:cNvSpPr txBox="1"/>
          <p:nvPr/>
        </p:nvSpPr>
        <p:spPr>
          <a:xfrm>
            <a:off x="4937760" y="4361688"/>
            <a:ext cx="2743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SAP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請求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/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中介請求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/Omni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文件紀錄</a:t>
            </a:r>
            <a:endParaRPr lang="en-US" sz="10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95FAA4F-B4A5-A50F-AA19-17BC756B5C2A}"/>
              </a:ext>
            </a:extLst>
          </p:cNvPr>
          <p:cNvSpPr/>
          <p:nvPr/>
        </p:nvSpPr>
        <p:spPr>
          <a:xfrm>
            <a:off x="8046720" y="388620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37402B8-1FFA-A982-6B3E-236E3ABCBBD7}"/>
              </a:ext>
            </a:extLst>
          </p:cNvPr>
          <p:cNvSpPr/>
          <p:nvPr/>
        </p:nvSpPr>
        <p:spPr>
          <a:xfrm>
            <a:off x="8211312" y="4050792"/>
            <a:ext cx="411480" cy="41148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34D3BA-53AC-7813-03B9-3868E5DFA228}"/>
              </a:ext>
            </a:extLst>
          </p:cNvPr>
          <p:cNvSpPr txBox="1"/>
          <p:nvPr/>
        </p:nvSpPr>
        <p:spPr>
          <a:xfrm>
            <a:off x="8211312" y="4089264"/>
            <a:ext cx="41148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D4A017"/>
                </a:solidFill>
                <a:latin typeface="Calibri" panose="020F0502020204030204" pitchFamily="34" charset="0"/>
              </a:rPr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210EB8-2A8F-DD7E-BDB5-C70C3D7D49B1}"/>
              </a:ext>
            </a:extLst>
          </p:cNvPr>
          <p:cNvSpPr txBox="1"/>
          <p:nvPr/>
        </p:nvSpPr>
        <p:spPr>
          <a:xfrm>
            <a:off x="8732520" y="4005072"/>
            <a:ext cx="27432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登入 </a:t>
            </a:r>
            <a:r>
              <a:rPr lang="en-US" altLang="zh-TW" sz="1350" b="1">
                <a:solidFill>
                  <a:srgbClr val="1E2761"/>
                </a:solidFill>
                <a:latin typeface="Calibri" panose="020F0502020204030204" pitchFamily="34" charset="0"/>
              </a:rPr>
              <a:t>/ </a:t>
            </a:r>
            <a:r>
              <a:rPr 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SSO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61FBEE-7BAB-EFC4-58D0-A84BC3E498CB}"/>
              </a:ext>
            </a:extLst>
          </p:cNvPr>
          <p:cNvSpPr txBox="1"/>
          <p:nvPr/>
        </p:nvSpPr>
        <p:spPr>
          <a:xfrm>
            <a:off x="8732520" y="4361688"/>
            <a:ext cx="2743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一般登入 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+ </a:t>
            </a:r>
            <a:r>
              <a:rPr lang="en-US" sz="1000">
                <a:solidFill>
                  <a:srgbClr val="5B6B94"/>
                </a:solidFill>
                <a:latin typeface="Calibri" panose="020F0502020204030204" pitchFamily="34" charset="0"/>
              </a:rPr>
              <a:t>SAML2 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單一登入</a:t>
            </a:r>
            <a:endParaRPr lang="en-US" sz="10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F9A1EF1-D27D-51FA-400E-3C62079E5979}"/>
              </a:ext>
            </a:extLst>
          </p:cNvPr>
          <p:cNvSpPr/>
          <p:nvPr/>
        </p:nvSpPr>
        <p:spPr>
          <a:xfrm>
            <a:off x="457200" y="521208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9102721-5E1D-ACAB-3807-82ABCD953A9B}"/>
              </a:ext>
            </a:extLst>
          </p:cNvPr>
          <p:cNvSpPr/>
          <p:nvPr/>
        </p:nvSpPr>
        <p:spPr>
          <a:xfrm>
            <a:off x="621792" y="5376672"/>
            <a:ext cx="411480" cy="41148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0CA2B8-8F61-A33C-1841-2F5C10AD6049}"/>
              </a:ext>
            </a:extLst>
          </p:cNvPr>
          <p:cNvSpPr txBox="1"/>
          <p:nvPr/>
        </p:nvSpPr>
        <p:spPr>
          <a:xfrm>
            <a:off x="621792" y="5415144"/>
            <a:ext cx="41148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D4A017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AB1916-E349-CAE1-0EFF-CD7C063F5C6C}"/>
              </a:ext>
            </a:extLst>
          </p:cNvPr>
          <p:cNvSpPr txBox="1"/>
          <p:nvPr/>
        </p:nvSpPr>
        <p:spPr>
          <a:xfrm>
            <a:off x="1143000" y="5330952"/>
            <a:ext cx="27432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OAuth2 </a:t>
            </a:r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用戶端管理</a:t>
            </a:r>
            <a:endParaRPr lang="en-US" sz="135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5174E3-4A58-7E2F-31A6-8B3627A055E7}"/>
              </a:ext>
            </a:extLst>
          </p:cNvPr>
          <p:cNvSpPr txBox="1"/>
          <p:nvPr/>
        </p:nvSpPr>
        <p:spPr>
          <a:xfrm>
            <a:off x="1143000" y="5687568"/>
            <a:ext cx="2743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fr-FR" sz="1000">
                <a:solidFill>
                  <a:srgbClr val="5B6B94"/>
                </a:solidFill>
                <a:latin typeface="Calibri" panose="020F0502020204030204" pitchFamily="34" charset="0"/>
              </a:rPr>
              <a:t>Passport Client/Token/AuthCode CRUD</a:t>
            </a:r>
            <a:endParaRPr lang="en-US" sz="10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CACF5E3-38A4-C900-C438-6D93DF4E6D44}"/>
              </a:ext>
            </a:extLst>
          </p:cNvPr>
          <p:cNvSpPr/>
          <p:nvPr/>
        </p:nvSpPr>
        <p:spPr>
          <a:xfrm>
            <a:off x="4251960" y="5212080"/>
            <a:ext cx="3611879" cy="11430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8CEE633-3184-8A47-85F7-FAE1D56BD88E}"/>
              </a:ext>
            </a:extLst>
          </p:cNvPr>
          <p:cNvSpPr/>
          <p:nvPr/>
        </p:nvSpPr>
        <p:spPr>
          <a:xfrm>
            <a:off x="4416552" y="5376672"/>
            <a:ext cx="411480" cy="41148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742B6D-EB64-4D68-CEE0-0F2D277AB333}"/>
              </a:ext>
            </a:extLst>
          </p:cNvPr>
          <p:cNvSpPr txBox="1"/>
          <p:nvPr/>
        </p:nvSpPr>
        <p:spPr>
          <a:xfrm>
            <a:off x="4416552" y="5415144"/>
            <a:ext cx="41148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D4A017"/>
                </a:solidFill>
                <a:latin typeface="Calibri" panose="020F0502020204030204" pitchFamily="34" charset="0"/>
              </a:rPr>
              <a:t>11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AFB061F-DF21-BCC9-F9C9-22B315FE5791}"/>
              </a:ext>
            </a:extLst>
          </p:cNvPr>
          <p:cNvSpPr txBox="1"/>
          <p:nvPr/>
        </p:nvSpPr>
        <p:spPr>
          <a:xfrm>
            <a:off x="4937760" y="5330952"/>
            <a:ext cx="27432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Job </a:t>
            </a:r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執行 </a:t>
            </a:r>
            <a:r>
              <a:rPr 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API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346804-151A-00FF-DC83-D19F8E53E836}"/>
              </a:ext>
            </a:extLst>
          </p:cNvPr>
          <p:cNvSpPr txBox="1"/>
          <p:nvPr/>
        </p:nvSpPr>
        <p:spPr>
          <a:xfrm>
            <a:off x="4937760" y="5687568"/>
            <a:ext cx="2743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手動觸發 </a:t>
            </a:r>
            <a:r>
              <a:rPr lang="en-US" altLang="zh-TW" sz="1000">
                <a:solidFill>
                  <a:srgbClr val="5B6B94"/>
                </a:solidFill>
                <a:latin typeface="Calibri" panose="020F0502020204030204" pitchFamily="34" charset="0"/>
              </a:rPr>
              <a:t>18 </a:t>
            </a:r>
            <a:r>
              <a:rPr lang="zh-TW" altLang="en-US" sz="1000">
                <a:solidFill>
                  <a:srgbClr val="5B6B94"/>
                </a:solidFill>
                <a:latin typeface="Calibri" panose="020F0502020204030204" pitchFamily="34" charset="0"/>
              </a:rPr>
              <a:t>種同步任務</a:t>
            </a:r>
            <a:endParaRPr lang="en-US" sz="10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338982-EED1-F07F-1844-BAE0A17CD5A5}"/>
              </a:ext>
            </a:extLst>
          </p:cNvPr>
          <p:cNvSpPr txBox="1"/>
          <p:nvPr/>
        </p:nvSpPr>
        <p:spPr>
          <a:xfrm>
            <a:off x="11247120" y="649224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>
                <a:solidFill>
                  <a:srgbClr val="9AA5C7"/>
                </a:solidFill>
                <a:latin typeface="Calibri" panose="020F050202020403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3181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51EFB0-DBA2-1CB8-F47D-9E65F56C64FF}"/>
              </a:ext>
            </a:extLst>
          </p:cNvPr>
          <p:cNvSpPr/>
          <p:nvPr/>
        </p:nvSpPr>
        <p:spPr>
          <a:xfrm>
            <a:off x="0" y="0"/>
            <a:ext cx="1219174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BA6754-45F3-8F68-C13A-C32CEDE7BF4B}"/>
              </a:ext>
            </a:extLst>
          </p:cNvPr>
          <p:cNvSpPr txBox="1"/>
          <p:nvPr/>
        </p:nvSpPr>
        <p:spPr>
          <a:xfrm>
            <a:off x="548640" y="457200"/>
            <a:ext cx="8686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整體專案架構：定位與技術棧</a:t>
            </a:r>
            <a:endParaRPr lang="en-US" sz="30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88C14F-BCF9-838A-20CC-94C865614FAA}"/>
              </a:ext>
            </a:extLst>
          </p:cNvPr>
          <p:cNvSpPr/>
          <p:nvPr/>
        </p:nvSpPr>
        <p:spPr>
          <a:xfrm>
            <a:off x="10881360" y="50292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8A7B92-B1BB-88D3-C0AD-A5841E563087}"/>
              </a:ext>
            </a:extLst>
          </p:cNvPr>
          <p:cNvSpPr txBox="1"/>
          <p:nvPr/>
        </p:nvSpPr>
        <p:spPr>
          <a:xfrm>
            <a:off x="10881360" y="549086"/>
            <a:ext cx="77724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Calibri" panose="020F0502020204030204" pitchFamily="34" charset="0"/>
              </a:rPr>
              <a:t>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0F0404-F9C8-CEF9-16A9-6CEAD146C144}"/>
              </a:ext>
            </a:extLst>
          </p:cNvPr>
          <p:cNvSpPr txBox="1"/>
          <p:nvPr/>
        </p:nvSpPr>
        <p:spPr>
          <a:xfrm>
            <a:off x="548640" y="1463040"/>
            <a:ext cx="53035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b="1">
                <a:solidFill>
                  <a:srgbClr val="1E2761"/>
                </a:solidFill>
                <a:latin typeface="Calibri" panose="020F0502020204030204" pitchFamily="34" charset="0"/>
              </a:rPr>
              <a:t>專案定位</a:t>
            </a:r>
            <a:endParaRPr lang="en-US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04126-26FE-21DD-24BC-9F1C6AA8AB93}"/>
              </a:ext>
            </a:extLst>
          </p:cNvPr>
          <p:cNvSpPr txBox="1"/>
          <p:nvPr/>
        </p:nvSpPr>
        <p:spPr>
          <a:xfrm>
            <a:off x="548640" y="1920240"/>
            <a:ext cx="5303520" cy="6001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5B6B94"/>
                </a:solidFill>
                <a:latin typeface="Calibri" panose="020F0502020204030204" pitchFamily="34" charset="0"/>
              </a:rPr>
              <a:t>Laravel 9 </a:t>
            </a:r>
            <a:r>
              <a:rPr lang="zh-TW" altLang="en-US" sz="1300">
                <a:solidFill>
                  <a:srgbClr val="5B6B94"/>
                </a:solidFill>
                <a:latin typeface="Calibri" panose="020F0502020204030204" pitchFamily="34" charset="0"/>
              </a:rPr>
              <a:t>中台系統，串接前台三大事業體（體驗 </a:t>
            </a:r>
            <a:r>
              <a:rPr lang="en-US" sz="1300">
                <a:solidFill>
                  <a:srgbClr val="5B6B94"/>
                </a:solidFill>
                <a:latin typeface="Calibri" panose="020F0502020204030204" pitchFamily="34" charset="0"/>
              </a:rPr>
              <a:t>Experiences、</a:t>
            </a:r>
            <a:r>
              <a:rPr lang="zh-TW" altLang="en-US" sz="1300">
                <a:solidFill>
                  <a:srgbClr val="5B6B94"/>
                </a:solidFill>
                <a:latin typeface="Calibri" panose="020F0502020204030204" pitchFamily="34" charset="0"/>
              </a:rPr>
              <a:t>市集 </a:t>
            </a:r>
            <a:r>
              <a:rPr lang="en-US" sz="1300">
                <a:solidFill>
                  <a:srgbClr val="5B6B94"/>
                </a:solidFill>
                <a:latin typeface="Calibri" panose="020F0502020204030204" pitchFamily="34" charset="0"/>
              </a:rPr>
              <a:t>Market、</a:t>
            </a:r>
            <a:r>
              <a:rPr lang="zh-TW" altLang="en-US" sz="1300">
                <a:solidFill>
                  <a:srgbClr val="5B6B94"/>
                </a:solidFill>
                <a:latin typeface="Calibri" panose="020F0502020204030204" pitchFamily="34" charset="0"/>
              </a:rPr>
              <a:t>旅宿 </a:t>
            </a:r>
            <a:r>
              <a:rPr lang="en-US" sz="1300">
                <a:solidFill>
                  <a:srgbClr val="5B6B94"/>
                </a:solidFill>
                <a:latin typeface="Calibri" panose="020F0502020204030204" pitchFamily="34" charset="0"/>
              </a:rPr>
              <a:t>OwlJourney）</a:t>
            </a:r>
            <a:r>
              <a:rPr lang="zh-TW" altLang="en-US" sz="1300">
                <a:solidFill>
                  <a:srgbClr val="5B6B94"/>
                </a:solidFill>
                <a:latin typeface="Calibri" panose="020F0502020204030204" pitchFamily="34" charset="0"/>
              </a:rPr>
              <a:t>與 </a:t>
            </a:r>
            <a:r>
              <a:rPr lang="en-US" sz="1300">
                <a:solidFill>
                  <a:srgbClr val="5B6B94"/>
                </a:solidFill>
                <a:latin typeface="Calibri" panose="020F0502020204030204" pitchFamily="34" charset="0"/>
              </a:rPr>
              <a:t>SAP Business ByDesign，</a:t>
            </a:r>
            <a:r>
              <a:rPr lang="zh-TW" altLang="en-US" sz="1300">
                <a:solidFill>
                  <a:srgbClr val="5B6B94"/>
                </a:solidFill>
                <a:latin typeface="Calibri" panose="020F0502020204030204" pitchFamily="34" charset="0"/>
              </a:rPr>
              <a:t>負責資料驗證、暫存與排程推送。</a:t>
            </a:r>
            <a:endParaRPr lang="en-US" sz="13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033693-B12E-4C4E-65AF-8460F359DDD6}"/>
              </a:ext>
            </a:extLst>
          </p:cNvPr>
          <p:cNvSpPr txBox="1"/>
          <p:nvPr/>
        </p:nvSpPr>
        <p:spPr>
          <a:xfrm>
            <a:off x="548640" y="3429000"/>
            <a:ext cx="5303520" cy="9079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TW" altLang="en-US" sz="1300">
                <a:solidFill>
                  <a:srgbClr val="1E2761"/>
                </a:solidFill>
                <a:latin typeface="Calibri" panose="020F0502020204030204" pitchFamily="34" charset="0"/>
              </a:rPr>
              <a:t>▸  提供 </a:t>
            </a:r>
            <a:r>
              <a:rPr lang="en-US" altLang="zh-TW" sz="1300">
                <a:solidFill>
                  <a:srgbClr val="1E2761"/>
                </a:solidFill>
                <a:latin typeface="Calibri" panose="020F0502020204030204" pitchFamily="34" charset="0"/>
              </a:rPr>
              <a:t>OAuth API</a:t>
            </a:r>
            <a:r>
              <a:rPr lang="zh-TW" altLang="en-US" sz="1300">
                <a:solidFill>
                  <a:srgbClr val="1E2761"/>
                </a:solidFill>
                <a:latin typeface="Calibri" panose="020F0502020204030204" pitchFamily="34" charset="0"/>
              </a:rPr>
              <a:t>，接收前台推送的業務資料</a:t>
            </a:r>
          </a:p>
          <a:p>
            <a:pPr>
              <a:spcAft>
                <a:spcPts val="1200"/>
              </a:spcAft>
            </a:pPr>
            <a:r>
              <a:rPr lang="zh-TW" altLang="en-US" sz="1300">
                <a:solidFill>
                  <a:srgbClr val="1E2761"/>
                </a:solidFill>
                <a:latin typeface="Calibri" panose="020F0502020204030204" pitchFamily="34" charset="0"/>
              </a:rPr>
              <a:t>▸  將驗證後的資料推送進 </a:t>
            </a:r>
            <a:r>
              <a:rPr lang="en-US" altLang="zh-TW" sz="1300">
                <a:solidFill>
                  <a:srgbClr val="1E2761"/>
                </a:solidFill>
                <a:latin typeface="Calibri" panose="020F0502020204030204" pitchFamily="34" charset="0"/>
              </a:rPr>
              <a:t>SAP ByDesign </a:t>
            </a:r>
            <a:r>
              <a:rPr lang="zh-TW" altLang="en-US" sz="1300">
                <a:solidFill>
                  <a:srgbClr val="1E2761"/>
                </a:solidFill>
                <a:latin typeface="Calibri" panose="020F0502020204030204" pitchFamily="34" charset="0"/>
              </a:rPr>
              <a:t>供財務使用</a:t>
            </a:r>
          </a:p>
          <a:p>
            <a:pPr>
              <a:spcAft>
                <a:spcPts val="1200"/>
              </a:spcAft>
            </a:pPr>
            <a:r>
              <a:rPr lang="zh-TW" altLang="en-US" sz="1300">
                <a:solidFill>
                  <a:srgbClr val="1E2761"/>
                </a:solidFill>
                <a:latin typeface="Calibri" panose="020F0502020204030204" pitchFamily="34" charset="0"/>
              </a:rPr>
              <a:t>▸  提供簡易報表視覺化、單一登入與角色權限管理</a:t>
            </a:r>
            <a:endParaRPr lang="en-US" sz="1300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9664F-78AF-38E3-9BA0-EFAA71B53F25}"/>
              </a:ext>
            </a:extLst>
          </p:cNvPr>
          <p:cNvSpPr txBox="1"/>
          <p:nvPr/>
        </p:nvSpPr>
        <p:spPr>
          <a:xfrm>
            <a:off x="6309360" y="1463040"/>
            <a:ext cx="53035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b="1">
                <a:solidFill>
                  <a:srgbClr val="1E2761"/>
                </a:solidFill>
                <a:latin typeface="Calibri" panose="020F0502020204030204" pitchFamily="34" charset="0"/>
              </a:rPr>
              <a:t>技術棧</a:t>
            </a:r>
            <a:endParaRPr lang="en-US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D426306-9351-32DC-1D7A-D597F8C93576}"/>
              </a:ext>
            </a:extLst>
          </p:cNvPr>
          <p:cNvSpPr/>
          <p:nvPr/>
        </p:nvSpPr>
        <p:spPr>
          <a:xfrm>
            <a:off x="6309360" y="196596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599A91-7009-6277-36F3-4D8AD7E03E1A}"/>
              </a:ext>
            </a:extLst>
          </p:cNvPr>
          <p:cNvSpPr txBox="1"/>
          <p:nvPr/>
        </p:nvSpPr>
        <p:spPr>
          <a:xfrm>
            <a:off x="6309360" y="2004432"/>
            <a:ext cx="25146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Laravel 9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745731-C151-CDEC-669B-FB91082149DE}"/>
              </a:ext>
            </a:extLst>
          </p:cNvPr>
          <p:cNvSpPr/>
          <p:nvPr/>
        </p:nvSpPr>
        <p:spPr>
          <a:xfrm>
            <a:off x="9052560" y="196596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8C2758-B10F-2AB2-24D8-CA403523AEB9}"/>
              </a:ext>
            </a:extLst>
          </p:cNvPr>
          <p:cNvSpPr txBox="1"/>
          <p:nvPr/>
        </p:nvSpPr>
        <p:spPr>
          <a:xfrm>
            <a:off x="9052560" y="2004432"/>
            <a:ext cx="25146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PHP 8.2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D6DEA63-4E34-C443-CB3E-FAF06F108CEF}"/>
              </a:ext>
            </a:extLst>
          </p:cNvPr>
          <p:cNvSpPr/>
          <p:nvPr/>
        </p:nvSpPr>
        <p:spPr>
          <a:xfrm>
            <a:off x="6309360" y="2715768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0982BA-F64F-8FA9-CA0A-7EA4BEE3A219}"/>
              </a:ext>
            </a:extLst>
          </p:cNvPr>
          <p:cNvSpPr txBox="1"/>
          <p:nvPr/>
        </p:nvSpPr>
        <p:spPr>
          <a:xfrm>
            <a:off x="6309360" y="2754240"/>
            <a:ext cx="25146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MySQL 5.7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F3472D8-12DD-0955-CEB8-2B35730D47E0}"/>
              </a:ext>
            </a:extLst>
          </p:cNvPr>
          <p:cNvSpPr/>
          <p:nvPr/>
        </p:nvSpPr>
        <p:spPr>
          <a:xfrm>
            <a:off x="9052560" y="2715768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5ABEC5-709A-86C1-5467-7829E993F8D0}"/>
              </a:ext>
            </a:extLst>
          </p:cNvPr>
          <p:cNvSpPr txBox="1"/>
          <p:nvPr/>
        </p:nvSpPr>
        <p:spPr>
          <a:xfrm>
            <a:off x="9052560" y="2754240"/>
            <a:ext cx="25146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dcat-admin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BA3F86F-89BA-A957-FE1F-ABF4FDA9211C}"/>
              </a:ext>
            </a:extLst>
          </p:cNvPr>
          <p:cNvSpPr/>
          <p:nvPr/>
        </p:nvSpPr>
        <p:spPr>
          <a:xfrm>
            <a:off x="6309360" y="3465576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EC2A7D-37BB-56C2-88D7-CEFCE7046641}"/>
              </a:ext>
            </a:extLst>
          </p:cNvPr>
          <p:cNvSpPr txBox="1"/>
          <p:nvPr/>
        </p:nvSpPr>
        <p:spPr>
          <a:xfrm>
            <a:off x="6309360" y="3504048"/>
            <a:ext cx="25146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Passport OAuth2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74F5C7C-3405-F5C1-19C7-434240AA0388}"/>
              </a:ext>
            </a:extLst>
          </p:cNvPr>
          <p:cNvSpPr/>
          <p:nvPr/>
        </p:nvSpPr>
        <p:spPr>
          <a:xfrm>
            <a:off x="9052560" y="3465576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1529A5-122B-0568-72FA-277B2199465F}"/>
              </a:ext>
            </a:extLst>
          </p:cNvPr>
          <p:cNvSpPr txBox="1"/>
          <p:nvPr/>
        </p:nvSpPr>
        <p:spPr>
          <a:xfrm>
            <a:off x="9052560" y="3504048"/>
            <a:ext cx="25146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SAML2 SSO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C20D560-EA68-F7FD-36F5-53358FCCCAF4}"/>
              </a:ext>
            </a:extLst>
          </p:cNvPr>
          <p:cNvSpPr/>
          <p:nvPr/>
        </p:nvSpPr>
        <p:spPr>
          <a:xfrm>
            <a:off x="6309360" y="4215384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9A86AE-BD83-5D87-71BA-1DFFB61FA88C}"/>
              </a:ext>
            </a:extLst>
          </p:cNvPr>
          <p:cNvSpPr txBox="1"/>
          <p:nvPr/>
        </p:nvSpPr>
        <p:spPr>
          <a:xfrm>
            <a:off x="6309360" y="4253856"/>
            <a:ext cx="25146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Laravel Horizon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436D353-31E5-6EBA-64A4-8D7F2C924934}"/>
              </a:ext>
            </a:extLst>
          </p:cNvPr>
          <p:cNvSpPr/>
          <p:nvPr/>
        </p:nvSpPr>
        <p:spPr>
          <a:xfrm>
            <a:off x="9052560" y="4215384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2E2AE6-8889-36CD-1439-6CA143186090}"/>
              </a:ext>
            </a:extLst>
          </p:cNvPr>
          <p:cNvSpPr txBox="1"/>
          <p:nvPr/>
        </p:nvSpPr>
        <p:spPr>
          <a:xfrm>
            <a:off x="9052560" y="4253856"/>
            <a:ext cx="25146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SOAP Extension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BE5E78-556B-160E-483A-6A6F8F308E30}"/>
              </a:ext>
            </a:extLst>
          </p:cNvPr>
          <p:cNvSpPr txBox="1"/>
          <p:nvPr/>
        </p:nvSpPr>
        <p:spPr>
          <a:xfrm>
            <a:off x="11247120" y="649224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>
                <a:solidFill>
                  <a:srgbClr val="9AA5C7"/>
                </a:solidFill>
                <a:latin typeface="Calibri" panose="020F050202020403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8419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16DE82-CA33-EDCF-356A-F23B0564AF61}"/>
              </a:ext>
            </a:extLst>
          </p:cNvPr>
          <p:cNvSpPr/>
          <p:nvPr/>
        </p:nvSpPr>
        <p:spPr>
          <a:xfrm>
            <a:off x="0" y="0"/>
            <a:ext cx="1219174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62AF76-3CDA-9B6D-343D-03E30E43F728}"/>
              </a:ext>
            </a:extLst>
          </p:cNvPr>
          <p:cNvSpPr txBox="1"/>
          <p:nvPr/>
        </p:nvSpPr>
        <p:spPr>
          <a:xfrm>
            <a:off x="548640" y="457200"/>
            <a:ext cx="8686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資料流：三層架構</a:t>
            </a:r>
            <a:endParaRPr lang="en-US" sz="30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3178B4-28D1-4945-91A8-6D851D9F4465}"/>
              </a:ext>
            </a:extLst>
          </p:cNvPr>
          <p:cNvSpPr/>
          <p:nvPr/>
        </p:nvSpPr>
        <p:spPr>
          <a:xfrm>
            <a:off x="10881360" y="50292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184B7-1F64-E23E-1B79-0D4EA134CC31}"/>
              </a:ext>
            </a:extLst>
          </p:cNvPr>
          <p:cNvSpPr txBox="1"/>
          <p:nvPr/>
        </p:nvSpPr>
        <p:spPr>
          <a:xfrm>
            <a:off x="10881360" y="549086"/>
            <a:ext cx="77724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Calibri" panose="020F0502020204030204" pitchFamily="34" charset="0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450F8C-76EC-ECEF-E1D6-5C7A088550EE}"/>
              </a:ext>
            </a:extLst>
          </p:cNvPr>
          <p:cNvSpPr/>
          <p:nvPr/>
        </p:nvSpPr>
        <p:spPr>
          <a:xfrm>
            <a:off x="502920" y="1828800"/>
            <a:ext cx="2423160" cy="14630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7D2F16-1ED1-E44D-78C5-CD94A926D86B}"/>
              </a:ext>
            </a:extLst>
          </p:cNvPr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52749B-BBCF-FA29-C798-A5938AB27E1B}"/>
              </a:ext>
            </a:extLst>
          </p:cNvPr>
          <p:cNvSpPr txBox="1"/>
          <p:nvPr/>
        </p:nvSpPr>
        <p:spPr>
          <a:xfrm>
            <a:off x="685800" y="2027069"/>
            <a:ext cx="457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6BE25-8258-2A7C-3AF8-942B400487B4}"/>
              </a:ext>
            </a:extLst>
          </p:cNvPr>
          <p:cNvSpPr txBox="1"/>
          <p:nvPr/>
        </p:nvSpPr>
        <p:spPr>
          <a:xfrm>
            <a:off x="1280160" y="1993392"/>
            <a:ext cx="150876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500" b="1">
                <a:solidFill>
                  <a:srgbClr val="1E2761"/>
                </a:solidFill>
                <a:latin typeface="Calibri" panose="020F0502020204030204" pitchFamily="34" charset="0"/>
              </a:rPr>
              <a:t>對外公開 </a:t>
            </a:r>
            <a:r>
              <a:rPr lang="en-US" sz="1500" b="1">
                <a:solidFill>
                  <a:srgbClr val="1E2761"/>
                </a:solidFill>
                <a:latin typeface="Calibri" panose="020F0502020204030204" pitchFamily="34" charset="0"/>
              </a:rPr>
              <a:t>API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4198B4-962E-15AF-A170-2C00F0B510A1}"/>
              </a:ext>
            </a:extLst>
          </p:cNvPr>
          <p:cNvSpPr txBox="1"/>
          <p:nvPr/>
        </p:nvSpPr>
        <p:spPr>
          <a:xfrm>
            <a:off x="685800" y="2560320"/>
            <a:ext cx="20574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5B6B94"/>
                </a:solidFill>
                <a:latin typeface="Calibri" panose="020F0502020204030204" pitchFamily="34" charset="0"/>
              </a:rPr>
              <a:t>mid_* </a:t>
            </a:r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端點</a:t>
            </a:r>
          </a:p>
          <a:p>
            <a:r>
              <a:rPr lang="en-US" altLang="zh-TW" sz="1100">
                <a:solidFill>
                  <a:srgbClr val="5B6B94"/>
                </a:solidFill>
                <a:latin typeface="Calibri" panose="020F0502020204030204" pitchFamily="34" charset="0"/>
              </a:rPr>
              <a:t>(</a:t>
            </a:r>
            <a:r>
              <a:rPr lang="en-US" sz="1100">
                <a:solidFill>
                  <a:srgbClr val="5B6B94"/>
                </a:solidFill>
                <a:latin typeface="Calibri" panose="020F0502020204030204" pitchFamily="34" charset="0"/>
              </a:rPr>
              <a:t>Passport OAuth)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C3E6DA-B92D-BA91-EA6E-D42A1EDC6FEB}"/>
              </a:ext>
            </a:extLst>
          </p:cNvPr>
          <p:cNvSpPr txBox="1"/>
          <p:nvPr/>
        </p:nvSpPr>
        <p:spPr>
          <a:xfrm>
            <a:off x="2926080" y="1767245"/>
            <a:ext cx="502920" cy="4001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600" b="1">
                <a:solidFill>
                  <a:srgbClr val="D4A017"/>
                </a:solidFill>
                <a:latin typeface="Calibri" panose="020F0502020204030204" pitchFamily="34" charset="0"/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2E18ED-1412-687B-516E-18F795281563}"/>
              </a:ext>
            </a:extLst>
          </p:cNvPr>
          <p:cNvSpPr/>
          <p:nvPr/>
        </p:nvSpPr>
        <p:spPr>
          <a:xfrm>
            <a:off x="3429000" y="1828800"/>
            <a:ext cx="2423160" cy="14630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EBD46DF-1F2F-C435-9086-6CA6D8E4DAAB}"/>
              </a:ext>
            </a:extLst>
          </p:cNvPr>
          <p:cNvSpPr/>
          <p:nvPr/>
        </p:nvSpPr>
        <p:spPr>
          <a:xfrm>
            <a:off x="3611880" y="2011680"/>
            <a:ext cx="457200" cy="4572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1EDAAA-5609-81A6-E7D6-FED10FD55722}"/>
              </a:ext>
            </a:extLst>
          </p:cNvPr>
          <p:cNvSpPr txBox="1"/>
          <p:nvPr/>
        </p:nvSpPr>
        <p:spPr>
          <a:xfrm>
            <a:off x="3611880" y="2027069"/>
            <a:ext cx="457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25D400-44B2-6BA7-A9A7-55A899281364}"/>
              </a:ext>
            </a:extLst>
          </p:cNvPr>
          <p:cNvSpPr txBox="1"/>
          <p:nvPr/>
        </p:nvSpPr>
        <p:spPr>
          <a:xfrm>
            <a:off x="4206240" y="1993392"/>
            <a:ext cx="150876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500" b="1">
                <a:solidFill>
                  <a:srgbClr val="1E2761"/>
                </a:solidFill>
                <a:latin typeface="Calibri" panose="020F0502020204030204" pitchFamily="34" charset="0"/>
              </a:rPr>
              <a:t>後台管理面板</a:t>
            </a:r>
            <a:endParaRPr lang="en-US" sz="15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636871-5EC1-F190-7265-3E66F5D21508}"/>
              </a:ext>
            </a:extLst>
          </p:cNvPr>
          <p:cNvSpPr txBox="1"/>
          <p:nvPr/>
        </p:nvSpPr>
        <p:spPr>
          <a:xfrm>
            <a:off x="3611880" y="2560320"/>
            <a:ext cx="20574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5B6B94"/>
                </a:solidFill>
                <a:latin typeface="Calibri" panose="020F0502020204030204" pitchFamily="34" charset="0"/>
              </a:rPr>
              <a:t>dcat-admin</a:t>
            </a:r>
          </a:p>
          <a:p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人工審核</a:t>
            </a:r>
            <a:r>
              <a:rPr lang="en-US" altLang="zh-TW" sz="1100">
                <a:solidFill>
                  <a:srgbClr val="5B6B94"/>
                </a:solidFill>
                <a:latin typeface="Calibri" panose="020F0502020204030204" pitchFamily="34" charset="0"/>
              </a:rPr>
              <a:t>/</a:t>
            </a:r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編輯</a:t>
            </a:r>
            <a:endParaRPr lang="en-US" sz="11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DF9EA6-D140-C698-5C08-B403502C49EC}"/>
              </a:ext>
            </a:extLst>
          </p:cNvPr>
          <p:cNvSpPr txBox="1"/>
          <p:nvPr/>
        </p:nvSpPr>
        <p:spPr>
          <a:xfrm>
            <a:off x="5852160" y="1767245"/>
            <a:ext cx="502920" cy="4001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600" b="1">
                <a:solidFill>
                  <a:srgbClr val="D4A017"/>
                </a:solidFill>
                <a:latin typeface="Calibri" panose="020F0502020204030204" pitchFamily="34" charset="0"/>
              </a:rPr>
              <a:t>→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F010F92-3379-AC5D-1758-AC93EEE22D02}"/>
              </a:ext>
            </a:extLst>
          </p:cNvPr>
          <p:cNvSpPr/>
          <p:nvPr/>
        </p:nvSpPr>
        <p:spPr>
          <a:xfrm>
            <a:off x="6355080" y="1828800"/>
            <a:ext cx="2423160" cy="14630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7C5066-8E51-D484-9A5E-6B82F7011FCC}"/>
              </a:ext>
            </a:extLst>
          </p:cNvPr>
          <p:cNvSpPr/>
          <p:nvPr/>
        </p:nvSpPr>
        <p:spPr>
          <a:xfrm>
            <a:off x="6537960" y="2011680"/>
            <a:ext cx="457200" cy="4572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EE8DC3-78B7-DC07-64D6-45A1C0F526EA}"/>
              </a:ext>
            </a:extLst>
          </p:cNvPr>
          <p:cNvSpPr txBox="1"/>
          <p:nvPr/>
        </p:nvSpPr>
        <p:spPr>
          <a:xfrm>
            <a:off x="6537960" y="2027069"/>
            <a:ext cx="457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A5E7C6-53BC-A5A5-B792-9D41275A20FF}"/>
              </a:ext>
            </a:extLst>
          </p:cNvPr>
          <p:cNvSpPr txBox="1"/>
          <p:nvPr/>
        </p:nvSpPr>
        <p:spPr>
          <a:xfrm>
            <a:off x="7132320" y="1993392"/>
            <a:ext cx="150876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500" b="1">
                <a:solidFill>
                  <a:srgbClr val="1E2761"/>
                </a:solidFill>
                <a:latin typeface="Calibri" panose="020F0502020204030204" pitchFamily="34" charset="0"/>
              </a:rPr>
              <a:t>排程推送引擎</a:t>
            </a:r>
            <a:endParaRPr lang="en-US" sz="15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A9E453-56BE-2765-B14D-13ECB9083716}"/>
              </a:ext>
            </a:extLst>
          </p:cNvPr>
          <p:cNvSpPr txBox="1"/>
          <p:nvPr/>
        </p:nvSpPr>
        <p:spPr>
          <a:xfrm>
            <a:off x="6537960" y="2560320"/>
            <a:ext cx="20574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5B6B94"/>
                </a:solidFill>
                <a:latin typeface="Calibri" panose="020F0502020204030204" pitchFamily="34" charset="0"/>
              </a:rPr>
              <a:t>job:day </a:t>
            </a:r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每日排程</a:t>
            </a:r>
          </a:p>
          <a:p>
            <a:r>
              <a:rPr lang="en-US" altLang="zh-TW" sz="1100">
                <a:solidFill>
                  <a:srgbClr val="5B6B94"/>
                </a:solidFill>
                <a:latin typeface="Calibri" panose="020F0502020204030204" pitchFamily="34" charset="0"/>
              </a:rPr>
              <a:t>(08:00-08:15)</a:t>
            </a:r>
            <a:endParaRPr lang="en-US" sz="11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F81309-25A2-3E29-4210-FDC180B9635B}"/>
              </a:ext>
            </a:extLst>
          </p:cNvPr>
          <p:cNvSpPr txBox="1"/>
          <p:nvPr/>
        </p:nvSpPr>
        <p:spPr>
          <a:xfrm>
            <a:off x="8778240" y="1767245"/>
            <a:ext cx="502920" cy="4001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600" b="1">
                <a:solidFill>
                  <a:srgbClr val="D4A017"/>
                </a:solidFill>
                <a:latin typeface="Calibri" panose="020F0502020204030204" pitchFamily="34" charset="0"/>
              </a:rPr>
              <a:t>→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A597144-EE09-0434-0F4C-1377A6B1BD86}"/>
              </a:ext>
            </a:extLst>
          </p:cNvPr>
          <p:cNvSpPr/>
          <p:nvPr/>
        </p:nvSpPr>
        <p:spPr>
          <a:xfrm>
            <a:off x="9281160" y="1828800"/>
            <a:ext cx="2423160" cy="14630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77DB1E4-75FF-8793-3316-CF5123AD9C06}"/>
              </a:ext>
            </a:extLst>
          </p:cNvPr>
          <p:cNvSpPr/>
          <p:nvPr/>
        </p:nvSpPr>
        <p:spPr>
          <a:xfrm>
            <a:off x="9464040" y="2011680"/>
            <a:ext cx="457200" cy="4572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46C529-ED19-B0E4-0821-379CA7465933}"/>
              </a:ext>
            </a:extLst>
          </p:cNvPr>
          <p:cNvSpPr txBox="1"/>
          <p:nvPr/>
        </p:nvSpPr>
        <p:spPr>
          <a:xfrm>
            <a:off x="9464040" y="2027069"/>
            <a:ext cx="457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462A36-4827-B4F6-E5C7-A5C41A4A5969}"/>
              </a:ext>
            </a:extLst>
          </p:cNvPr>
          <p:cNvSpPr txBox="1"/>
          <p:nvPr/>
        </p:nvSpPr>
        <p:spPr>
          <a:xfrm>
            <a:off x="10058400" y="1993392"/>
            <a:ext cx="150876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500" b="1">
                <a:solidFill>
                  <a:srgbClr val="1E2761"/>
                </a:solidFill>
                <a:latin typeface="Calibri" panose="020F0502020204030204" pitchFamily="34" charset="0"/>
              </a:rPr>
              <a:t>SAP ByDesign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A664AB-C5EF-D397-4D55-70651B914D93}"/>
              </a:ext>
            </a:extLst>
          </p:cNvPr>
          <p:cNvSpPr txBox="1"/>
          <p:nvPr/>
        </p:nvSpPr>
        <p:spPr>
          <a:xfrm>
            <a:off x="9464040" y="2560320"/>
            <a:ext cx="20574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5B6B94"/>
                </a:solidFill>
                <a:latin typeface="Calibri" panose="020F0502020204030204" pitchFamily="34" charset="0"/>
              </a:rPr>
              <a:t>SOAP/WSDL</a:t>
            </a:r>
          </a:p>
          <a:p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財務系統</a:t>
            </a:r>
            <a:endParaRPr lang="en-US" sz="11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A671926-25FD-5958-1911-9DF716D05BCB}"/>
              </a:ext>
            </a:extLst>
          </p:cNvPr>
          <p:cNvSpPr/>
          <p:nvPr/>
        </p:nvSpPr>
        <p:spPr>
          <a:xfrm>
            <a:off x="1645920" y="3931920"/>
            <a:ext cx="4114800" cy="20116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DA73C7-D1F8-1903-F214-DA75B36A0873}"/>
              </a:ext>
            </a:extLst>
          </p:cNvPr>
          <p:cNvSpPr txBox="1"/>
          <p:nvPr/>
        </p:nvSpPr>
        <p:spPr>
          <a:xfrm>
            <a:off x="1645920" y="4160520"/>
            <a:ext cx="4114800" cy="7386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4800" b="1">
                <a:solidFill>
                  <a:srgbClr val="1E2761"/>
                </a:solidFill>
                <a:latin typeface="Calibri" panose="020F0502020204030204" pitchFamily="34" charset="0"/>
              </a:rPr>
              <a:t>31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80B2D2-60FF-E7E0-8C5E-E493D7B14B22}"/>
              </a:ext>
            </a:extLst>
          </p:cNvPr>
          <p:cNvSpPr txBox="1"/>
          <p:nvPr/>
        </p:nvSpPr>
        <p:spPr>
          <a:xfrm>
            <a:off x="1645920" y="5212080"/>
            <a:ext cx="4114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300">
                <a:solidFill>
                  <a:srgbClr val="5B6B94"/>
                </a:solidFill>
                <a:latin typeface="Calibri" panose="020F0502020204030204" pitchFamily="34" charset="0"/>
              </a:rPr>
              <a:t>Eloquent Models（</a:t>
            </a:r>
            <a:r>
              <a:rPr lang="zh-TW" altLang="en-US" sz="1300">
                <a:solidFill>
                  <a:srgbClr val="5B6B94"/>
                </a:solidFill>
                <a:latin typeface="Calibri" panose="020F0502020204030204" pitchFamily="34" charset="0"/>
              </a:rPr>
              <a:t>業務物件）</a:t>
            </a:r>
            <a:endParaRPr lang="en-US" sz="13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1CC6C45-3F8B-B094-E25B-8992E0FB8E36}"/>
              </a:ext>
            </a:extLst>
          </p:cNvPr>
          <p:cNvSpPr/>
          <p:nvPr/>
        </p:nvSpPr>
        <p:spPr>
          <a:xfrm>
            <a:off x="6400800" y="3931920"/>
            <a:ext cx="4114800" cy="20116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13AF33-98CD-5B4E-5B7F-F6E018CD07A1}"/>
              </a:ext>
            </a:extLst>
          </p:cNvPr>
          <p:cNvSpPr txBox="1"/>
          <p:nvPr/>
        </p:nvSpPr>
        <p:spPr>
          <a:xfrm>
            <a:off x="6400800" y="4160520"/>
            <a:ext cx="4114800" cy="7386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4800" b="1">
                <a:solidFill>
                  <a:srgbClr val="1E2761"/>
                </a:solidFill>
                <a:latin typeface="Calibri" panose="020F0502020204030204" pitchFamily="34" charset="0"/>
              </a:rPr>
              <a:t>139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B698CC-1E46-5BFA-E88F-3E158ADEEFBD}"/>
              </a:ext>
            </a:extLst>
          </p:cNvPr>
          <p:cNvSpPr txBox="1"/>
          <p:nvPr/>
        </p:nvSpPr>
        <p:spPr>
          <a:xfrm>
            <a:off x="6400800" y="5212080"/>
            <a:ext cx="4114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300">
                <a:solidFill>
                  <a:srgbClr val="5B6B94"/>
                </a:solidFill>
                <a:latin typeface="Calibri" panose="020F0502020204030204" pitchFamily="34" charset="0"/>
              </a:rPr>
              <a:t>Database Migrations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EEC68B-446E-4F82-7921-3C481A901AE0}"/>
              </a:ext>
            </a:extLst>
          </p:cNvPr>
          <p:cNvSpPr txBox="1"/>
          <p:nvPr/>
        </p:nvSpPr>
        <p:spPr>
          <a:xfrm>
            <a:off x="11247120" y="649224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>
                <a:solidFill>
                  <a:srgbClr val="9AA5C7"/>
                </a:solidFill>
                <a:latin typeface="Calibri" panose="020F050202020403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419518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81977A-499E-498D-069B-2B5B1767A08F}"/>
              </a:ext>
            </a:extLst>
          </p:cNvPr>
          <p:cNvSpPr/>
          <p:nvPr/>
        </p:nvSpPr>
        <p:spPr>
          <a:xfrm>
            <a:off x="0" y="0"/>
            <a:ext cx="1219174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EEEA53-EA61-D612-084E-638897F006BF}"/>
              </a:ext>
            </a:extLst>
          </p:cNvPr>
          <p:cNvSpPr txBox="1"/>
          <p:nvPr/>
        </p:nvSpPr>
        <p:spPr>
          <a:xfrm>
            <a:off x="548640" y="457200"/>
            <a:ext cx="8686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技術債與測試</a:t>
            </a:r>
            <a:r>
              <a:rPr lang="en-US" altLang="zh-TW" sz="3000" b="1">
                <a:solidFill>
                  <a:srgbClr val="1E2761"/>
                </a:solidFill>
                <a:latin typeface="Calibri" panose="020F0502020204030204" pitchFamily="34" charset="0"/>
              </a:rPr>
              <a:t>/</a:t>
            </a:r>
            <a:r>
              <a:rPr lang="zh-TW" alt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部署現況</a:t>
            </a:r>
            <a:endParaRPr lang="en-US" sz="30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D4E6F5-5558-5352-4FB5-9BA96105E7EF}"/>
              </a:ext>
            </a:extLst>
          </p:cNvPr>
          <p:cNvSpPr/>
          <p:nvPr/>
        </p:nvSpPr>
        <p:spPr>
          <a:xfrm>
            <a:off x="10881360" y="50292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D510C-6CFD-4369-520B-EE46214F5810}"/>
              </a:ext>
            </a:extLst>
          </p:cNvPr>
          <p:cNvSpPr txBox="1"/>
          <p:nvPr/>
        </p:nvSpPr>
        <p:spPr>
          <a:xfrm>
            <a:off x="10881360" y="549086"/>
            <a:ext cx="77724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Calibri" panose="020F0502020204030204" pitchFamily="34" charset="0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74B2C1-C6F0-56CE-0103-DB31568652F7}"/>
              </a:ext>
            </a:extLst>
          </p:cNvPr>
          <p:cNvSpPr/>
          <p:nvPr/>
        </p:nvSpPr>
        <p:spPr>
          <a:xfrm>
            <a:off x="548640" y="1463040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FBE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E68CB6-E76F-01F3-6451-DA00AAEAB43B}"/>
              </a:ext>
            </a:extLst>
          </p:cNvPr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rgbClr val="D4A0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D39BA4-023B-EE6C-9867-A9CD229FAD45}"/>
              </a:ext>
            </a:extLst>
          </p:cNvPr>
          <p:cNvSpPr txBox="1"/>
          <p:nvPr/>
        </p:nvSpPr>
        <p:spPr>
          <a:xfrm>
            <a:off x="868680" y="173736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38BDC-6E06-202A-DACF-217C50522973}"/>
              </a:ext>
            </a:extLst>
          </p:cNvPr>
          <p:cNvSpPr txBox="1"/>
          <p:nvPr/>
        </p:nvSpPr>
        <p:spPr>
          <a:xfrm>
            <a:off x="1463040" y="1755648"/>
            <a:ext cx="420624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600" b="1">
                <a:solidFill>
                  <a:srgbClr val="1E2761"/>
                </a:solidFill>
                <a:latin typeface="Calibri" panose="020F0502020204030204" pitchFamily="34" charset="0"/>
              </a:rPr>
              <a:t>已知技術債</a:t>
            </a:r>
            <a:endParaRPr lang="en-US" sz="16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11E283-0196-7CDF-0048-8F7E615BBD02}"/>
              </a:ext>
            </a:extLst>
          </p:cNvPr>
          <p:cNvSpPr txBox="1"/>
          <p:nvPr/>
        </p:nvSpPr>
        <p:spPr>
          <a:xfrm>
            <a:off x="868680" y="2331720"/>
            <a:ext cx="4709160" cy="936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400"/>
              </a:spcAft>
            </a:pPr>
            <a:r>
              <a:rPr lang="en-US" sz="1250">
                <a:solidFill>
                  <a:srgbClr val="1E2761"/>
                </a:solidFill>
                <a:latin typeface="Calibri" panose="020F0502020204030204" pitchFamily="34" charset="0"/>
              </a:rPr>
              <a:t>▸  TransportSuppliers Job </a:t>
            </a: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尚未實作（</a:t>
            </a:r>
            <a:r>
              <a:rPr lang="en-US" sz="1250">
                <a:solidFill>
                  <a:srgbClr val="1E2761"/>
                </a:solidFill>
                <a:latin typeface="Calibri" panose="020F0502020204030204" pitchFamily="34" charset="0"/>
              </a:rPr>
              <a:t>handle() </a:t>
            </a: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為空）</a:t>
            </a:r>
          </a:p>
          <a:p>
            <a:pPr>
              <a:spcAft>
                <a:spcPts val="1400"/>
              </a:spcAft>
            </a:pP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▸  </a:t>
            </a:r>
            <a:r>
              <a:rPr lang="en-US" sz="1250">
                <a:solidFill>
                  <a:srgbClr val="1E2761"/>
                </a:solidFill>
                <a:latin typeface="Calibri" panose="020F0502020204030204" pitchFamily="34" charset="0"/>
              </a:rPr>
              <a:t>SapByDSoapClient </a:t>
            </a: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重構層完全未被呼叫，屬未接線程式碼</a:t>
            </a:r>
          </a:p>
          <a:p>
            <a:pPr>
              <a:spcAft>
                <a:spcPts val="1400"/>
              </a:spcAft>
            </a:pP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▸  </a:t>
            </a:r>
            <a:r>
              <a:rPr lang="en-US" sz="1250">
                <a:solidFill>
                  <a:srgbClr val="1E2761"/>
                </a:solidFill>
                <a:latin typeface="Calibri" panose="020F0502020204030204" pitchFamily="34" charset="0"/>
              </a:rPr>
              <a:t>OwlPay </a:t>
            </a: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整合已於 </a:t>
            </a:r>
            <a:r>
              <a:rPr lang="en-US" altLang="zh-TW" sz="1250">
                <a:solidFill>
                  <a:srgbClr val="1E2761"/>
                </a:solidFill>
                <a:latin typeface="Calibri" panose="020F0502020204030204" pitchFamily="34" charset="0"/>
              </a:rPr>
              <a:t>2022 </a:t>
            </a: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年整套建立又移除，屬棄用功能</a:t>
            </a:r>
            <a:endParaRPr lang="en-US" sz="1250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44BE1A-5B24-CB26-2DC6-69A52B799C26}"/>
              </a:ext>
            </a:extLst>
          </p:cNvPr>
          <p:cNvSpPr/>
          <p:nvPr/>
        </p:nvSpPr>
        <p:spPr>
          <a:xfrm>
            <a:off x="6309360" y="1463040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7E789A5-DDC5-C3B1-F611-3E4F8D7FE807}"/>
              </a:ext>
            </a:extLst>
          </p:cNvPr>
          <p:cNvSpPr/>
          <p:nvPr/>
        </p:nvSpPr>
        <p:spPr>
          <a:xfrm>
            <a:off x="6629400" y="1737360"/>
            <a:ext cx="457200" cy="4572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27FA40-BE40-9F4E-530A-8FB024E0A95A}"/>
              </a:ext>
            </a:extLst>
          </p:cNvPr>
          <p:cNvSpPr txBox="1"/>
          <p:nvPr/>
        </p:nvSpPr>
        <p:spPr>
          <a:xfrm>
            <a:off x="6629400" y="173736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C5BE6B-B673-AE63-4322-2EA83750568E}"/>
              </a:ext>
            </a:extLst>
          </p:cNvPr>
          <p:cNvSpPr txBox="1"/>
          <p:nvPr/>
        </p:nvSpPr>
        <p:spPr>
          <a:xfrm>
            <a:off x="7223760" y="1755648"/>
            <a:ext cx="420624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600" b="1">
                <a:solidFill>
                  <a:srgbClr val="1E2761"/>
                </a:solidFill>
                <a:latin typeface="Calibri" panose="020F0502020204030204" pitchFamily="34" charset="0"/>
              </a:rPr>
              <a:t>測試與部署現況</a:t>
            </a:r>
            <a:endParaRPr lang="en-US" sz="16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3E8167-6F3E-B834-FFDA-35C73A9208B4}"/>
              </a:ext>
            </a:extLst>
          </p:cNvPr>
          <p:cNvSpPr txBox="1"/>
          <p:nvPr/>
        </p:nvSpPr>
        <p:spPr>
          <a:xfrm>
            <a:off x="6629400" y="2331720"/>
            <a:ext cx="4709160" cy="112851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400"/>
              </a:spcAft>
            </a:pP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▸  </a:t>
            </a:r>
            <a:r>
              <a:rPr lang="en-US" altLang="zh-TW" sz="1250">
                <a:solidFill>
                  <a:srgbClr val="1E2761"/>
                </a:solidFill>
                <a:latin typeface="Calibri" panose="020F0502020204030204" pitchFamily="34" charset="0"/>
              </a:rPr>
              <a:t>95+ </a:t>
            </a: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測試檔案，涵蓋 </a:t>
            </a:r>
            <a:r>
              <a:rPr lang="en-US" sz="1250">
                <a:solidFill>
                  <a:srgbClr val="1E2761"/>
                </a:solidFill>
                <a:latin typeface="Calibri" panose="020F0502020204030204" pitchFamily="34" charset="0"/>
              </a:rPr>
              <a:t>Feature/Unit，</a:t>
            </a: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覆蓋 </a:t>
            </a:r>
            <a:r>
              <a:rPr lang="en-US" sz="1250">
                <a:solidFill>
                  <a:srgbClr val="1E2761"/>
                </a:solidFill>
                <a:latin typeface="Calibri" panose="020F0502020204030204" pitchFamily="34" charset="0"/>
              </a:rPr>
              <a:t>API、Model、Repository、Service、</a:t>
            </a: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驗證規則</a:t>
            </a:r>
          </a:p>
          <a:p>
            <a:pPr>
              <a:spcAft>
                <a:spcPts val="1400"/>
              </a:spcAft>
            </a:pP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▸  </a:t>
            </a:r>
            <a:r>
              <a:rPr lang="en-US" sz="1250">
                <a:solidFill>
                  <a:srgbClr val="1E2761"/>
                </a:solidFill>
                <a:latin typeface="Calibri" panose="020F0502020204030204" pitchFamily="34" charset="0"/>
              </a:rPr>
              <a:t>Docker </a:t>
            </a: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化部署（</a:t>
            </a:r>
            <a:r>
              <a:rPr lang="en-US" sz="1250">
                <a:solidFill>
                  <a:srgbClr val="1E2761"/>
                </a:solidFill>
                <a:latin typeface="Calibri" panose="020F0502020204030204" pitchFamily="34" charset="0"/>
              </a:rPr>
              <a:t>app + MySQL 5.7 + Redis），cron </a:t>
            </a: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驅動排程</a:t>
            </a:r>
          </a:p>
          <a:p>
            <a:pPr>
              <a:spcAft>
                <a:spcPts val="1400"/>
              </a:spcAft>
            </a:pP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▸  目前沒有 </a:t>
            </a:r>
            <a:r>
              <a:rPr lang="en-US" sz="1250">
                <a:solidFill>
                  <a:srgbClr val="1E2761"/>
                </a:solidFill>
                <a:latin typeface="Calibri" panose="020F0502020204030204" pitchFamily="34" charset="0"/>
              </a:rPr>
              <a:t>CI </a:t>
            </a:r>
            <a:r>
              <a:rPr lang="zh-TW" altLang="en-US" sz="1250">
                <a:solidFill>
                  <a:srgbClr val="1E2761"/>
                </a:solidFill>
                <a:latin typeface="Calibri" panose="020F0502020204030204" pitchFamily="34" charset="0"/>
              </a:rPr>
              <a:t>設定，測試與靜態分析需手動執行</a:t>
            </a:r>
            <a:endParaRPr lang="en-US" sz="1250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665735-011A-6A10-D377-50B627187B56}"/>
              </a:ext>
            </a:extLst>
          </p:cNvPr>
          <p:cNvSpPr txBox="1"/>
          <p:nvPr/>
        </p:nvSpPr>
        <p:spPr>
          <a:xfrm>
            <a:off x="11247120" y="649224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>
                <a:solidFill>
                  <a:srgbClr val="9AA5C7"/>
                </a:solidFill>
                <a:latin typeface="Calibri" panose="020F050202020403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53721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A9ADE2-75DF-C343-7FD3-B294700155DC}"/>
              </a:ext>
            </a:extLst>
          </p:cNvPr>
          <p:cNvSpPr/>
          <p:nvPr/>
        </p:nvSpPr>
        <p:spPr>
          <a:xfrm>
            <a:off x="0" y="0"/>
            <a:ext cx="1219174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C7B812-B099-F5D1-3895-09F8106DA235}"/>
              </a:ext>
            </a:extLst>
          </p:cNvPr>
          <p:cNvSpPr txBox="1"/>
          <p:nvPr/>
        </p:nvSpPr>
        <p:spPr>
          <a:xfrm>
            <a:off x="548640" y="457200"/>
            <a:ext cx="8686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Material Valuation API </a:t>
            </a:r>
            <a:r>
              <a:rPr lang="zh-TW" alt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深入分析</a:t>
            </a:r>
            <a:endParaRPr lang="en-US" sz="30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8E6D0D-0046-FD50-33F7-B827A8EE2C78}"/>
              </a:ext>
            </a:extLst>
          </p:cNvPr>
          <p:cNvSpPr/>
          <p:nvPr/>
        </p:nvSpPr>
        <p:spPr>
          <a:xfrm>
            <a:off x="10881360" y="50292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F4460-BC13-1A74-D33D-611FDDBCCA94}"/>
              </a:ext>
            </a:extLst>
          </p:cNvPr>
          <p:cNvSpPr txBox="1"/>
          <p:nvPr/>
        </p:nvSpPr>
        <p:spPr>
          <a:xfrm>
            <a:off x="10881360" y="549086"/>
            <a:ext cx="77724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Calibri" panose="020F0502020204030204" pitchFamily="34" charset="0"/>
              </a:rPr>
              <a:t>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9D4FAE-C273-BD62-BF4D-7D0C0D96C063}"/>
              </a:ext>
            </a:extLst>
          </p:cNvPr>
          <p:cNvSpPr/>
          <p:nvPr/>
        </p:nvSpPr>
        <p:spPr>
          <a:xfrm>
            <a:off x="548640" y="128016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FBE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3BD5A5-1CE8-E543-CB14-AAF57D84C7C7}"/>
              </a:ext>
            </a:extLst>
          </p:cNvPr>
          <p:cNvSpPr txBox="1"/>
          <p:nvPr/>
        </p:nvSpPr>
        <p:spPr>
          <a:xfrm>
            <a:off x="868680" y="1314785"/>
            <a:ext cx="105156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重要發現：沒有獨立的公開 </a:t>
            </a:r>
            <a:r>
              <a:rPr lang="en-US" altLang="zh-TW" sz="1350" b="1">
                <a:solidFill>
                  <a:srgbClr val="1E2761"/>
                </a:solidFill>
                <a:latin typeface="Calibri" panose="020F0502020204030204" pitchFamily="34" charset="0"/>
              </a:rPr>
              <a:t>API — </a:t>
            </a:r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估價資料是 </a:t>
            </a:r>
            <a:r>
              <a:rPr lang="en-US" altLang="zh-TW" sz="1350" b="1">
                <a:solidFill>
                  <a:srgbClr val="1E2761"/>
                </a:solidFill>
                <a:latin typeface="Calibri" panose="020F0502020204030204" pitchFamily="34" charset="0"/>
              </a:rPr>
              <a:t>Material</a:t>
            </a:r>
            <a:r>
              <a:rPr lang="zh-TW" altLang="en-US" sz="1350" b="1">
                <a:solidFill>
                  <a:srgbClr val="1E2761"/>
                </a:solidFill>
                <a:latin typeface="Calibri" panose="020F0502020204030204" pitchFamily="34" charset="0"/>
              </a:rPr>
              <a:t>（物料）流程的附屬資料</a:t>
            </a:r>
            <a:endParaRPr lang="en-US" sz="135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D6AFFC-580E-4C6E-D541-91128CBDEA97}"/>
              </a:ext>
            </a:extLst>
          </p:cNvPr>
          <p:cNvSpPr/>
          <p:nvPr/>
        </p:nvSpPr>
        <p:spPr>
          <a:xfrm>
            <a:off x="594360" y="237744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E2FA251-1F7A-8309-4AC9-C42A57627CCB}"/>
              </a:ext>
            </a:extLst>
          </p:cNvPr>
          <p:cNvSpPr/>
          <p:nvPr/>
        </p:nvSpPr>
        <p:spPr>
          <a:xfrm>
            <a:off x="777240" y="2560320"/>
            <a:ext cx="457200" cy="4572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59433E-2157-31E1-2F42-393AF416A252}"/>
              </a:ext>
            </a:extLst>
          </p:cNvPr>
          <p:cNvSpPr txBox="1"/>
          <p:nvPr/>
        </p:nvSpPr>
        <p:spPr>
          <a:xfrm>
            <a:off x="777240" y="2575709"/>
            <a:ext cx="457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3D9AE3-DF1B-0107-36BA-B2085DCFE5B7}"/>
              </a:ext>
            </a:extLst>
          </p:cNvPr>
          <p:cNvSpPr txBox="1"/>
          <p:nvPr/>
        </p:nvSpPr>
        <p:spPr>
          <a:xfrm>
            <a:off x="1371600" y="2542032"/>
            <a:ext cx="233172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500" b="1">
                <a:solidFill>
                  <a:srgbClr val="1E2761"/>
                </a:solidFill>
                <a:latin typeface="Calibri" panose="020F0502020204030204" pitchFamily="34" charset="0"/>
              </a:rPr>
              <a:t>建立物料</a:t>
            </a:r>
            <a:endParaRPr lang="en-US" sz="15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346AE1-41D1-E8A8-1229-EC5285B9E6E8}"/>
              </a:ext>
            </a:extLst>
          </p:cNvPr>
          <p:cNvSpPr txBox="1"/>
          <p:nvPr/>
        </p:nvSpPr>
        <p:spPr>
          <a:xfrm>
            <a:off x="777240" y="3108960"/>
            <a:ext cx="288036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5B6B94"/>
                </a:solidFill>
                <a:latin typeface="Calibri" panose="020F0502020204030204" pitchFamily="34" charset="0"/>
              </a:rPr>
              <a:t>POST create_mid_material</a:t>
            </a:r>
          </a:p>
          <a:p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自動建立空白 </a:t>
            </a:r>
            <a:r>
              <a:rPr lang="en-US" sz="1100">
                <a:solidFill>
                  <a:srgbClr val="5B6B94"/>
                </a:solidFill>
                <a:latin typeface="Calibri" panose="020F0502020204030204" pitchFamily="34" charset="0"/>
              </a:rPr>
              <a:t>valuation </a:t>
            </a:r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記錄</a:t>
            </a:r>
          </a:p>
          <a:p>
            <a:r>
              <a:rPr lang="en-US" altLang="zh-TW" sz="1100">
                <a:solidFill>
                  <a:srgbClr val="5B6B94"/>
                </a:solidFill>
                <a:latin typeface="Calibri" panose="020F0502020204030204" pitchFamily="34" charset="0"/>
              </a:rPr>
              <a:t>(</a:t>
            </a:r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僅含 </a:t>
            </a:r>
            <a:r>
              <a:rPr lang="en-US" sz="1100">
                <a:solidFill>
                  <a:srgbClr val="5B6B94"/>
                </a:solidFill>
                <a:latin typeface="Calibri" panose="020F0502020204030204" pitchFamily="34" charset="0"/>
              </a:rPr>
              <a:t>material_id)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B82467-B315-8322-7943-5904FFDCA414}"/>
              </a:ext>
            </a:extLst>
          </p:cNvPr>
          <p:cNvSpPr txBox="1"/>
          <p:nvPr/>
        </p:nvSpPr>
        <p:spPr>
          <a:xfrm>
            <a:off x="3840480" y="2315885"/>
            <a:ext cx="566928" cy="4001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600" b="1">
                <a:solidFill>
                  <a:srgbClr val="D4A017"/>
                </a:solidFill>
                <a:latin typeface="Calibri" panose="020F0502020204030204" pitchFamily="34" charset="0"/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DFD0F6B-DADD-DB16-4064-4A4E219E29D3}"/>
              </a:ext>
            </a:extLst>
          </p:cNvPr>
          <p:cNvSpPr/>
          <p:nvPr/>
        </p:nvSpPr>
        <p:spPr>
          <a:xfrm>
            <a:off x="4407408" y="237744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CACFBA0-E9E9-9D3D-4B1A-71A4CD6594F8}"/>
              </a:ext>
            </a:extLst>
          </p:cNvPr>
          <p:cNvSpPr/>
          <p:nvPr/>
        </p:nvSpPr>
        <p:spPr>
          <a:xfrm>
            <a:off x="4590288" y="2560320"/>
            <a:ext cx="457200" cy="4572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0E69CB-D5E1-1142-6B4F-804A056F8609}"/>
              </a:ext>
            </a:extLst>
          </p:cNvPr>
          <p:cNvSpPr txBox="1"/>
          <p:nvPr/>
        </p:nvSpPr>
        <p:spPr>
          <a:xfrm>
            <a:off x="4590288" y="2575709"/>
            <a:ext cx="457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3C397B-E48E-7F73-8E5F-EB9ABD154B3F}"/>
              </a:ext>
            </a:extLst>
          </p:cNvPr>
          <p:cNvSpPr txBox="1"/>
          <p:nvPr/>
        </p:nvSpPr>
        <p:spPr>
          <a:xfrm>
            <a:off x="5184648" y="2542032"/>
            <a:ext cx="233172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500" b="1">
                <a:solidFill>
                  <a:srgbClr val="1E2761"/>
                </a:solidFill>
                <a:latin typeface="Calibri" panose="020F0502020204030204" pitchFamily="34" charset="0"/>
              </a:rPr>
              <a:t>觸發推送</a:t>
            </a:r>
            <a:endParaRPr lang="en-US" sz="15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84D34C-96C5-1A83-B3B8-E79B06E1385D}"/>
              </a:ext>
            </a:extLst>
          </p:cNvPr>
          <p:cNvSpPr txBox="1"/>
          <p:nvPr/>
        </p:nvSpPr>
        <p:spPr>
          <a:xfrm>
            <a:off x="4590288" y="3108960"/>
            <a:ext cx="288036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5B6B94"/>
                </a:solidFill>
                <a:latin typeface="Calibri" panose="020F0502020204030204" pitchFamily="34" charset="0"/>
              </a:rPr>
              <a:t>admin/api/job/materialValuation</a:t>
            </a:r>
          </a:p>
          <a:p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手動觸發，或每日</a:t>
            </a:r>
          </a:p>
          <a:p>
            <a:r>
              <a:rPr lang="en-US" sz="1100">
                <a:solidFill>
                  <a:srgbClr val="5B6B94"/>
                </a:solidFill>
                <a:latin typeface="Calibri" panose="020F0502020204030204" pitchFamily="34" charset="0"/>
              </a:rPr>
              <a:t>job:day </a:t>
            </a:r>
            <a:r>
              <a:rPr lang="zh-TW" altLang="en-US" sz="1100">
                <a:solidFill>
                  <a:srgbClr val="5B6B94"/>
                </a:solidFill>
                <a:latin typeface="Calibri" panose="020F0502020204030204" pitchFamily="34" charset="0"/>
              </a:rPr>
              <a:t>排程</a:t>
            </a:r>
            <a:endParaRPr lang="en-US" sz="11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86F812-67A2-E55E-8F4F-FDC289891248}"/>
              </a:ext>
            </a:extLst>
          </p:cNvPr>
          <p:cNvSpPr txBox="1"/>
          <p:nvPr/>
        </p:nvSpPr>
        <p:spPr>
          <a:xfrm>
            <a:off x="7653528" y="2315885"/>
            <a:ext cx="566928" cy="4001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2600" b="1">
                <a:solidFill>
                  <a:srgbClr val="D4A017"/>
                </a:solidFill>
                <a:latin typeface="Calibri" panose="020F0502020204030204" pitchFamily="34" charset="0"/>
              </a:rPr>
              <a:t>→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2B0B55F-E407-1F53-C002-12BC387DC565}"/>
              </a:ext>
            </a:extLst>
          </p:cNvPr>
          <p:cNvSpPr/>
          <p:nvPr/>
        </p:nvSpPr>
        <p:spPr>
          <a:xfrm>
            <a:off x="8220456" y="237744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C50DE2B-FD74-CA8B-907C-43220D3AB3F6}"/>
              </a:ext>
            </a:extLst>
          </p:cNvPr>
          <p:cNvSpPr/>
          <p:nvPr/>
        </p:nvSpPr>
        <p:spPr>
          <a:xfrm>
            <a:off x="8403336" y="2560320"/>
            <a:ext cx="457200" cy="457200"/>
          </a:xfrm>
          <a:prstGeom prst="ellips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77A595-C7E5-2AEC-51B4-72253F36838C}"/>
              </a:ext>
            </a:extLst>
          </p:cNvPr>
          <p:cNvSpPr txBox="1"/>
          <p:nvPr/>
        </p:nvSpPr>
        <p:spPr>
          <a:xfrm>
            <a:off x="8403336" y="2575709"/>
            <a:ext cx="457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D1461E-08C7-D110-F7B7-CBDBB7729538}"/>
              </a:ext>
            </a:extLst>
          </p:cNvPr>
          <p:cNvSpPr txBox="1"/>
          <p:nvPr/>
        </p:nvSpPr>
        <p:spPr>
          <a:xfrm>
            <a:off x="8997696" y="2542032"/>
            <a:ext cx="233172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500" b="1">
                <a:solidFill>
                  <a:srgbClr val="1E2761"/>
                </a:solidFill>
                <a:latin typeface="Calibri" panose="020F0502020204030204" pitchFamily="34" charset="0"/>
              </a:rPr>
              <a:t>呼叫 </a:t>
            </a:r>
            <a:r>
              <a:rPr lang="en-US" sz="1500" b="1">
                <a:solidFill>
                  <a:srgbClr val="1E2761"/>
                </a:solidFill>
                <a:latin typeface="Calibri" panose="020F0502020204030204" pitchFamily="34" charset="0"/>
              </a:rPr>
              <a:t>SAP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9DC4C6-84E8-7513-8683-7A1D3092BCCD}"/>
              </a:ext>
            </a:extLst>
          </p:cNvPr>
          <p:cNvSpPr txBox="1"/>
          <p:nvPr/>
        </p:nvSpPr>
        <p:spPr>
          <a:xfrm>
            <a:off x="8403336" y="3108960"/>
            <a:ext cx="288036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5B6B94"/>
                </a:solidFill>
                <a:latin typeface="Calibri" panose="020F0502020204030204" pitchFamily="34" charset="0"/>
              </a:rPr>
              <a:t>MaterialValuationService::createAll()</a:t>
            </a:r>
          </a:p>
          <a:p>
            <a:r>
              <a:rPr lang="en-US" sz="1100">
                <a:solidFill>
                  <a:srgbClr val="5B6B94"/>
                </a:solidFill>
                <a:latin typeface="Calibri" panose="020F0502020204030204" pitchFamily="34" charset="0"/>
              </a:rPr>
              <a:t>呼叫 SOAP「Manage Material</a:t>
            </a:r>
          </a:p>
          <a:p>
            <a:r>
              <a:rPr lang="en-US" sz="1100">
                <a:solidFill>
                  <a:srgbClr val="5B6B94"/>
                </a:solidFill>
                <a:latin typeface="Calibri" panose="020F0502020204030204" pitchFamily="34" charset="0"/>
              </a:rPr>
              <a:t>Valuations」MaintainBundle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383904-2E8D-89EB-EA62-42FFDD9A2FC0}"/>
              </a:ext>
            </a:extLst>
          </p:cNvPr>
          <p:cNvSpPr txBox="1"/>
          <p:nvPr/>
        </p:nvSpPr>
        <p:spPr>
          <a:xfrm>
            <a:off x="594360" y="4617720"/>
            <a:ext cx="10972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300">
                <a:solidFill>
                  <a:srgbClr val="5B6B94"/>
                </a:solidFill>
                <a:latin typeface="Calibri" panose="020F0502020204030204" pitchFamily="34" charset="0"/>
              </a:rPr>
              <a:t>本地 </a:t>
            </a:r>
            <a:r>
              <a:rPr lang="en-US" sz="1300">
                <a:solidFill>
                  <a:srgbClr val="5B6B94"/>
                </a:solidFill>
                <a:latin typeface="Calibri" panose="020F0502020204030204" pitchFamily="34" charset="0"/>
              </a:rPr>
              <a:t>material_valuations </a:t>
            </a:r>
            <a:r>
              <a:rPr lang="zh-TW" altLang="en-US" sz="1300">
                <a:solidFill>
                  <a:srgbClr val="5B6B94"/>
                </a:solidFill>
                <a:latin typeface="Calibri" panose="020F0502020204030204" pitchFamily="34" charset="0"/>
              </a:rPr>
              <a:t>表僅記錄同步狀態（</a:t>
            </a:r>
            <a:r>
              <a:rPr lang="en-US" sz="1300">
                <a:solidFill>
                  <a:srgbClr val="5B6B94"/>
                </a:solidFill>
                <a:latin typeface="Calibri" panose="020F0502020204030204" pitchFamily="34" charset="0"/>
              </a:rPr>
              <a:t>material_id、finish_insert_sap </a:t>
            </a:r>
            <a:r>
              <a:rPr lang="zh-TW" altLang="en-US" sz="1300">
                <a:solidFill>
                  <a:srgbClr val="5B6B94"/>
                </a:solidFill>
                <a:latin typeface="Calibri" panose="020F0502020204030204" pitchFamily="34" charset="0"/>
              </a:rPr>
              <a:t>等），實際估價數值（成本、幣別、單位等）皆直接取自關聯的 </a:t>
            </a:r>
            <a:r>
              <a:rPr lang="en-US" sz="1300">
                <a:solidFill>
                  <a:srgbClr val="5B6B94"/>
                </a:solidFill>
                <a:latin typeface="Calibri" panose="020F0502020204030204" pitchFamily="34" charset="0"/>
              </a:rPr>
              <a:t>materials </a:t>
            </a:r>
            <a:r>
              <a:rPr lang="zh-TW" altLang="en-US" sz="1300">
                <a:solidFill>
                  <a:srgbClr val="5B6B94"/>
                </a:solidFill>
                <a:latin typeface="Calibri" panose="020F0502020204030204" pitchFamily="34" charset="0"/>
              </a:rPr>
              <a:t>表。</a:t>
            </a:r>
            <a:endParaRPr lang="en-US" sz="13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4F069B-A477-3543-48DE-CC902FFC3352}"/>
              </a:ext>
            </a:extLst>
          </p:cNvPr>
          <p:cNvSpPr txBox="1"/>
          <p:nvPr/>
        </p:nvSpPr>
        <p:spPr>
          <a:xfrm>
            <a:off x="11247120" y="649224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>
                <a:solidFill>
                  <a:srgbClr val="9AA5C7"/>
                </a:solidFill>
                <a:latin typeface="Calibri" panose="020F050202020403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94571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FC7152-E66B-A510-67AA-EFD9FD4E8D4A}"/>
              </a:ext>
            </a:extLst>
          </p:cNvPr>
          <p:cNvSpPr/>
          <p:nvPr/>
        </p:nvSpPr>
        <p:spPr>
          <a:xfrm>
            <a:off x="0" y="0"/>
            <a:ext cx="1219174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2FFF9-6E2D-DCFE-3E92-78424DFE49ED}"/>
              </a:ext>
            </a:extLst>
          </p:cNvPr>
          <p:cNvSpPr txBox="1"/>
          <p:nvPr/>
        </p:nvSpPr>
        <p:spPr>
          <a:xfrm>
            <a:off x="548640" y="457200"/>
            <a:ext cx="8686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推送 </a:t>
            </a:r>
            <a:r>
              <a:rPr lang="en-US" altLang="zh-TW" sz="3000" b="1">
                <a:solidFill>
                  <a:srgbClr val="1E2761"/>
                </a:solidFill>
                <a:latin typeface="Calibri" panose="020F0502020204030204" pitchFamily="34" charset="0"/>
              </a:rPr>
              <a:t>SAP </a:t>
            </a:r>
            <a:r>
              <a:rPr lang="zh-TW" alt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的參數對照表</a:t>
            </a:r>
            <a:endParaRPr lang="en-US" sz="30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FE2D5A-2A45-13B0-78D8-85701336E567}"/>
              </a:ext>
            </a:extLst>
          </p:cNvPr>
          <p:cNvSpPr/>
          <p:nvPr/>
        </p:nvSpPr>
        <p:spPr>
          <a:xfrm>
            <a:off x="10881360" y="50292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70043-A074-988F-6A5D-FE8AAF3AFF23}"/>
              </a:ext>
            </a:extLst>
          </p:cNvPr>
          <p:cNvSpPr txBox="1"/>
          <p:nvPr/>
        </p:nvSpPr>
        <p:spPr>
          <a:xfrm>
            <a:off x="10881360" y="549086"/>
            <a:ext cx="77724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Calibri" panose="020F0502020204030204" pitchFamily="34" charset="0"/>
              </a:rPr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F338B-3E64-5EDD-AC7A-B22184DDCC78}"/>
              </a:ext>
            </a:extLst>
          </p:cNvPr>
          <p:cNvSpPr txBox="1"/>
          <p:nvPr/>
        </p:nvSpPr>
        <p:spPr>
          <a:xfrm>
            <a:off x="548640" y="1051560"/>
            <a:ext cx="105156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5B6B94"/>
                </a:solidFill>
                <a:latin typeface="Calibri" panose="020F0502020204030204" pitchFamily="34" charset="0"/>
              </a:rPr>
              <a:t>MaterialValuationDataBundleMaintainRequest_sync（</a:t>
            </a:r>
            <a:r>
              <a:rPr lang="zh-TW" altLang="en-US" sz="1200">
                <a:solidFill>
                  <a:srgbClr val="5B6B94"/>
                </a:solidFill>
                <a:latin typeface="Calibri" panose="020F0502020204030204" pitchFamily="34" charset="0"/>
              </a:rPr>
              <a:t>來源：關聯的 </a:t>
            </a:r>
            <a:r>
              <a:rPr lang="en-US" sz="1200">
                <a:solidFill>
                  <a:srgbClr val="5B6B94"/>
                </a:solidFill>
                <a:latin typeface="Calibri" panose="020F0502020204030204" pitchFamily="34" charset="0"/>
              </a:rPr>
              <a:t>Material </a:t>
            </a:r>
            <a:r>
              <a:rPr lang="zh-TW" altLang="en-US" sz="1200">
                <a:solidFill>
                  <a:srgbClr val="5B6B94"/>
                </a:solidFill>
                <a:latin typeface="Calibri" panose="020F0502020204030204" pitchFamily="34" charset="0"/>
              </a:rPr>
              <a:t>物件）</a:t>
            </a:r>
            <a:endParaRPr lang="en-US" sz="1200">
              <a:solidFill>
                <a:srgbClr val="5B6B94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B54E2DB-2945-B173-7005-5E039BF26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163201"/>
              </p:ext>
            </p:extLst>
          </p:nvPr>
        </p:nvGraphicFramePr>
        <p:xfrm>
          <a:off x="548640" y="1463040"/>
          <a:ext cx="11091672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4218644464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4253530887"/>
                    </a:ext>
                  </a:extLst>
                </a:gridCol>
              </a:tblGrid>
              <a:tr h="386862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SAP </a:t>
                      </a:r>
                      <a:r>
                        <a:rPr lang="zh-TW" alt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欄位</a:t>
                      </a:r>
                      <a:endParaRPr lang="en-US" sz="13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資料來源</a:t>
                      </a:r>
                      <a:endParaRPr lang="en-US" sz="13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207115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MaterialInternalID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material.material_id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069991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CompanyID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material.company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20548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PermanentEstablishmentID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material.business_residence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36742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ValidityDatePeriod.StartDate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material.established_at（</a:t>
                      </a:r>
                      <a:r>
                        <a:rPr lang="zh-TW" alt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轉為當月 </a:t>
                      </a:r>
                      <a:r>
                        <a:rPr lang="en-US" altLang="zh-TW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1 </a:t>
                      </a:r>
                      <a:r>
                        <a:rPr lang="zh-TW" alt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號）</a:t>
                      </a:r>
                      <a:endParaRPr lang="en-US" sz="12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352017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ValidityDatePeriod.EndDate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固定值 </a:t>
                      </a:r>
                      <a:r>
                        <a:rPr lang="en-US" altLang="zh-TW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9999-12-31</a:t>
                      </a:r>
                      <a:endParaRPr lang="en-US" sz="12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238961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PriceTypeCode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固定值 PRICE_TYPE_CODE_IVENTORY_COST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989771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SetOfBooksID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固定值 Material::SET_OF_BOOKS_ID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010522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LocalCurrencyValuationPrice.Amount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material.cost（</a:t>
                      </a:r>
                      <a:r>
                        <a:rPr lang="zh-TW" alt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含 </a:t>
                      </a:r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material.currency）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18538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LocalCurrencyValuationPrice.BaseQuantity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固定值 </a:t>
                      </a:r>
                      <a:r>
                        <a:rPr lang="en-US" altLang="zh-TW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zh-TW" alt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（含 </a:t>
                      </a:r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material.uom）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866103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AccountDeterminationMaterialValuationDataGroupCode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material.account_determination_group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09173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PerpetualInventoryValuationProcedureCode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固定值 </a:t>
                      </a:r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MOVING_AVERAGE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95728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LifeCycleStatusCode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固定值 </a:t>
                      </a:r>
                      <a:r>
                        <a:rPr lang="en-US" sz="12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ACTIVE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34836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1E8DA0-D29D-9EFB-5236-3DFDD4820AB2}"/>
              </a:ext>
            </a:extLst>
          </p:cNvPr>
          <p:cNvSpPr txBox="1"/>
          <p:nvPr/>
        </p:nvSpPr>
        <p:spPr>
          <a:xfrm>
            <a:off x="11247120" y="649224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>
                <a:solidFill>
                  <a:srgbClr val="9AA5C7"/>
                </a:solidFill>
                <a:latin typeface="Calibri" panose="020F050202020403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02475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3CC099-79BB-ACA7-E2E1-C85EC55AD29E}"/>
              </a:ext>
            </a:extLst>
          </p:cNvPr>
          <p:cNvSpPr/>
          <p:nvPr/>
        </p:nvSpPr>
        <p:spPr>
          <a:xfrm>
            <a:off x="0" y="0"/>
            <a:ext cx="1219174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A379A-0275-5F50-0137-0DE86A45FB52}"/>
              </a:ext>
            </a:extLst>
          </p:cNvPr>
          <p:cNvSpPr txBox="1"/>
          <p:nvPr/>
        </p:nvSpPr>
        <p:spPr>
          <a:xfrm>
            <a:off x="548640" y="457200"/>
            <a:ext cx="8686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Database Seeder </a:t>
            </a:r>
            <a:r>
              <a:rPr lang="zh-TW" altLang="en-US" sz="3000" b="1">
                <a:solidFill>
                  <a:srgbClr val="1E2761"/>
                </a:solidFill>
                <a:latin typeface="Calibri" panose="020F0502020204030204" pitchFamily="34" charset="0"/>
              </a:rPr>
              <a:t>功能與已知問題</a:t>
            </a:r>
            <a:endParaRPr lang="en-US" sz="3000" b="1">
              <a:solidFill>
                <a:srgbClr val="1E276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67F25F-C909-F58C-5F08-9BC2ACDC8C58}"/>
              </a:ext>
            </a:extLst>
          </p:cNvPr>
          <p:cNvSpPr/>
          <p:nvPr/>
        </p:nvSpPr>
        <p:spPr>
          <a:xfrm>
            <a:off x="10881360" y="50292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AC6EB-39E2-8BFD-D365-3AACC6841C42}"/>
              </a:ext>
            </a:extLst>
          </p:cNvPr>
          <p:cNvSpPr txBox="1"/>
          <p:nvPr/>
        </p:nvSpPr>
        <p:spPr>
          <a:xfrm>
            <a:off x="10881360" y="549086"/>
            <a:ext cx="77724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Calibri" panose="020F0502020204030204" pitchFamily="34" charset="0"/>
              </a:rPr>
              <a:t>05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824018-0153-8501-55F1-5662212C0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940405"/>
              </p:ext>
            </p:extLst>
          </p:nvPr>
        </p:nvGraphicFramePr>
        <p:xfrm>
          <a:off x="548640" y="1188720"/>
          <a:ext cx="11091672" cy="3977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65255122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887638761"/>
                    </a:ext>
                  </a:extLst>
                </a:gridCol>
                <a:gridCol w="6519672">
                  <a:extLst>
                    <a:ext uri="{9D8B030D-6E8A-4147-A177-3AD203B41FA5}">
                      <a16:colId xmlns:a16="http://schemas.microsoft.com/office/drawing/2014/main" val="2489948222"/>
                    </a:ext>
                  </a:extLst>
                </a:gridCol>
              </a:tblGrid>
              <a:tr h="361604"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Seeder</a:t>
                      </a:r>
                    </a:p>
                  </a:txBody>
                  <a:tcPr marL="76200" marR="76200" marT="50800" marB="508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呼叫狀態</a:t>
                      </a:r>
                      <a:endParaRPr lang="en-US" sz="125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功能說明</a:t>
                      </a:r>
                      <a:endParaRPr lang="en-US" sz="125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794471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UsersTableSeeder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主流程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Factory 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產生 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10 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筆假使用者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957076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SuppliersTableSeeder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主流程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寫入 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1 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筆真實供應商基本資料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978214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ServicesTableSeeder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主流程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寫入 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4 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筆旅宿必要服務項目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468003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MaterialsTableSeeder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主流程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寫入 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2 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筆物料基礎資料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002627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BasicDataSeeder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獨立備用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建置完整初始環境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OAuth/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帳號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/</a:t>
                      </a:r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dcat-admin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選單權限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)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56472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MpoMasterTableSeeder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獨立備用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Factory 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產生 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50 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筆採購單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+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明細 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缺少 </a:t>
                      </a:r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use import)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083483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MsoMasterTableSeeder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獨立備用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Factory 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產生 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50 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筆銷售單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+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明細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159568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SsoMasterTableSeeder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獨立備用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Factory 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產生 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50 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筆服務銷售單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+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明細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548081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RateTableSeeder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獨立備用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Factory 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產生 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99 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筆匯率假資料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832441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RolesAndPermissionsSeeder</a:t>
                      </a: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獨立備用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建立 </a:t>
                      </a:r>
                      <a:r>
                        <a:rPr 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Spatie 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角色權限 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已失效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,</a:t>
                      </a:r>
                      <a:r>
                        <a:rPr lang="zh-TW" altLang="en-US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表已刪除</a:t>
                      </a:r>
                      <a:r>
                        <a:rPr lang="en-US" altLang="zh-TW" sz="1100">
                          <a:solidFill>
                            <a:srgbClr val="1E2761"/>
                          </a:solidFill>
                          <a:latin typeface="Calibri" panose="020F0502020204030204" pitchFamily="34" charset="0"/>
                        </a:rPr>
                        <a:t>)</a:t>
                      </a:r>
                      <a:endParaRPr lang="en-US" sz="1100">
                        <a:solidFill>
                          <a:srgbClr val="1E276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848381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D15BC2-929A-8257-D634-09AC9605C4EE}"/>
              </a:ext>
            </a:extLst>
          </p:cNvPr>
          <p:cNvSpPr/>
          <p:nvPr/>
        </p:nvSpPr>
        <p:spPr>
          <a:xfrm>
            <a:off x="548640" y="53949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BE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893C5-82E9-676C-68AF-6D5769F9B1A7}"/>
              </a:ext>
            </a:extLst>
          </p:cNvPr>
          <p:cNvSpPr txBox="1"/>
          <p:nvPr/>
        </p:nvSpPr>
        <p:spPr>
          <a:xfrm>
            <a:off x="868680" y="5348794"/>
            <a:ext cx="1051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zh-TW" altLang="en-US" sz="1200">
                <a:solidFill>
                  <a:srgbClr val="1E2761"/>
                </a:solidFill>
                <a:latin typeface="Calibri" panose="020F0502020204030204" pitchFamily="34" charset="0"/>
              </a:rPr>
              <a:t>已知問題：</a:t>
            </a:r>
            <a:r>
              <a:rPr lang="en-US" sz="1200">
                <a:solidFill>
                  <a:srgbClr val="1E2761"/>
                </a:solidFill>
                <a:latin typeface="Calibri" panose="020F0502020204030204" pitchFamily="34" charset="0"/>
              </a:rPr>
              <a:t>RolesAndPermissionsSeeder </a:t>
            </a:r>
            <a:r>
              <a:rPr lang="zh-TW" altLang="en-US" sz="1200">
                <a:solidFill>
                  <a:srgbClr val="1E2761"/>
                </a:solidFill>
                <a:latin typeface="Calibri" panose="020F0502020204030204" pitchFamily="34" charset="0"/>
              </a:rPr>
              <a:t>依賴 </a:t>
            </a:r>
            <a:r>
              <a:rPr lang="en-US" altLang="zh-TW" sz="1200">
                <a:solidFill>
                  <a:srgbClr val="1E2761"/>
                </a:solidFill>
                <a:latin typeface="Calibri" panose="020F0502020204030204" pitchFamily="34" charset="0"/>
              </a:rPr>
              <a:t>2022 </a:t>
            </a:r>
            <a:r>
              <a:rPr lang="zh-TW" altLang="en-US" sz="1200">
                <a:solidFill>
                  <a:srgbClr val="1E2761"/>
                </a:solidFill>
                <a:latin typeface="Calibri" panose="020F0502020204030204" pitchFamily="34" charset="0"/>
              </a:rPr>
              <a:t>年已刪除的 </a:t>
            </a:r>
            <a:r>
              <a:rPr lang="en-US" sz="1200">
                <a:solidFill>
                  <a:srgbClr val="1E2761"/>
                </a:solidFill>
                <a:latin typeface="Calibri" panose="020F0502020204030204" pitchFamily="34" charset="0"/>
              </a:rPr>
              <a:t>Spatie </a:t>
            </a:r>
            <a:r>
              <a:rPr lang="zh-TW" altLang="en-US" sz="1200">
                <a:solidFill>
                  <a:srgbClr val="1E2761"/>
                </a:solidFill>
                <a:latin typeface="Calibri" panose="020F0502020204030204" pitchFamily="34" charset="0"/>
              </a:rPr>
              <a:t>權限表，執行會失敗；</a:t>
            </a:r>
            <a:r>
              <a:rPr lang="en-US" sz="1200">
                <a:solidFill>
                  <a:srgbClr val="1E2761"/>
                </a:solidFill>
                <a:latin typeface="Calibri" panose="020F0502020204030204" pitchFamily="34" charset="0"/>
              </a:rPr>
              <a:t>MpoMasterTableSeeder.php </a:t>
            </a:r>
            <a:r>
              <a:rPr lang="zh-TW" altLang="en-US" sz="1200">
                <a:solidFill>
                  <a:srgbClr val="1E2761"/>
                </a:solidFill>
                <a:latin typeface="Calibri" panose="020F0502020204030204" pitchFamily="34" charset="0"/>
              </a:rPr>
              <a:t>缺少 </a:t>
            </a:r>
            <a:r>
              <a:rPr lang="en-US" sz="1200">
                <a:solidFill>
                  <a:srgbClr val="1E2761"/>
                </a:solidFill>
                <a:latin typeface="Calibri" panose="020F0502020204030204" pitchFamily="34" charset="0"/>
              </a:rPr>
              <a:t>MpoMaster/MpoDetail </a:t>
            </a:r>
            <a:r>
              <a:rPr lang="zh-TW" altLang="en-US" sz="1200">
                <a:solidFill>
                  <a:srgbClr val="1E2761"/>
                </a:solidFill>
                <a:latin typeface="Calibri" panose="020F0502020204030204" pitchFamily="34" charset="0"/>
              </a:rPr>
              <a:t>的 </a:t>
            </a:r>
            <a:r>
              <a:rPr lang="en-US" sz="1200">
                <a:solidFill>
                  <a:srgbClr val="1E2761"/>
                </a:solidFill>
                <a:latin typeface="Calibri" panose="020F0502020204030204" pitchFamily="34" charset="0"/>
              </a:rPr>
              <a:t>use import，</a:t>
            </a:r>
            <a:r>
              <a:rPr lang="zh-TW" altLang="en-US" sz="1200">
                <a:solidFill>
                  <a:srgbClr val="1E2761"/>
                </a:solidFill>
                <a:latin typeface="Calibri" panose="020F0502020204030204" pitchFamily="34" charset="0"/>
              </a:rPr>
              <a:t>呼叫會拋出 </a:t>
            </a:r>
            <a:r>
              <a:rPr lang="en-US" sz="1200">
                <a:solidFill>
                  <a:srgbClr val="1E2761"/>
                </a:solidFill>
                <a:latin typeface="Calibri" panose="020F0502020204030204" pitchFamily="34" charset="0"/>
              </a:rPr>
              <a:t>Class not found。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78C72-583F-5146-C485-CC25194A0A99}"/>
              </a:ext>
            </a:extLst>
          </p:cNvPr>
          <p:cNvSpPr txBox="1"/>
          <p:nvPr/>
        </p:nvSpPr>
        <p:spPr>
          <a:xfrm>
            <a:off x="11247120" y="649224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>
                <a:solidFill>
                  <a:srgbClr val="9AA5C7"/>
                </a:solidFill>
                <a:latin typeface="Calibri" panose="020F050202020403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09264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366F59-5D05-1AE5-9B9B-BDF01EF5B9A9}"/>
              </a:ext>
            </a:extLst>
          </p:cNvPr>
          <p:cNvSpPr/>
          <p:nvPr/>
        </p:nvSpPr>
        <p:spPr>
          <a:xfrm>
            <a:off x="0" y="0"/>
            <a:ext cx="12191746" cy="6858000"/>
          </a:xfrm>
          <a:prstGeom prst="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69D9B96-8BB1-47E8-3CED-21F52C347A7D}"/>
              </a:ext>
            </a:extLst>
          </p:cNvPr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D4A017">
              <a:alpha val="13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B8618-667C-D9BD-5932-1EB20B0297C3}"/>
              </a:ext>
            </a:extLst>
          </p:cNvPr>
          <p:cNvSpPr txBox="1"/>
          <p:nvPr/>
        </p:nvSpPr>
        <p:spPr>
          <a:xfrm>
            <a:off x="914400" y="640080"/>
            <a:ext cx="7315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3600" b="1">
                <a:solidFill>
                  <a:srgbClr val="FFFFFF"/>
                </a:solidFill>
                <a:latin typeface="Calibri" panose="020F0502020204030204" pitchFamily="34" charset="0"/>
              </a:rPr>
              <a:t>總結</a:t>
            </a:r>
            <a:endParaRPr lang="en-US" sz="3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9A3AE-2208-C7DE-BBAB-4DD42B4CD086}"/>
              </a:ext>
            </a:extLst>
          </p:cNvPr>
          <p:cNvSpPr txBox="1"/>
          <p:nvPr/>
        </p:nvSpPr>
        <p:spPr>
          <a:xfrm>
            <a:off x="914400" y="1600200"/>
            <a:ext cx="10241280" cy="22826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400"/>
              </a:spcAft>
            </a:pP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▸ 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SAP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整合採用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SOAP/WSDL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，涵蓋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16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項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ByD Web Service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，但仍有查詢類服務與一套重構層尚未接線</a:t>
            </a:r>
          </a:p>
          <a:p>
            <a:pPr>
              <a:spcAft>
                <a:spcPts val="1400"/>
              </a:spcAft>
            </a:pP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▸ 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app/Admin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以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11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大模組打造「業務單據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-&gt; SAP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同步」中台管理平台</a:t>
            </a:r>
          </a:p>
          <a:p>
            <a:pPr>
              <a:spcAft>
                <a:spcPts val="1400"/>
              </a:spcAft>
            </a:pP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▸  整體架構為三層：對外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mid_* API -&gt;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後台審核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-&gt;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排程推送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SAP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，搭配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31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個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Model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與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139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個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Migration</a:t>
            </a:r>
          </a:p>
          <a:p>
            <a:pPr>
              <a:spcAft>
                <a:spcPts val="1400"/>
              </a:spcAft>
            </a:pP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▸  Material Valuation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無獨立公開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API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，實質資料取自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Material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，靠排程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/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手動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Job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推送</a:t>
            </a:r>
          </a:p>
          <a:p>
            <a:pPr>
              <a:spcAft>
                <a:spcPts val="1400"/>
              </a:spcAft>
            </a:pP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▸ 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Database Seeder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僅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4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個納入主流程，其餘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6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個為備用，部分已失效</a:t>
            </a:r>
          </a:p>
          <a:p>
            <a:pPr>
              <a:spcAft>
                <a:spcPts val="1400"/>
              </a:spcAft>
            </a:pP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▸  建議優先處理：補齊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CI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、清理死代碼、修正 </a:t>
            </a:r>
            <a:r>
              <a:rPr lang="en-US" altLang="zh-TW" sz="1500">
                <a:solidFill>
                  <a:srgbClr val="FFFFFF"/>
                </a:solidFill>
                <a:latin typeface="Calibri" panose="020F0502020204030204" pitchFamily="34" charset="0"/>
              </a:rPr>
              <a:t>MpoMasterTableSeeder </a:t>
            </a:r>
            <a:r>
              <a:rPr lang="zh-TW" altLang="en-US" sz="1500">
                <a:solidFill>
                  <a:srgbClr val="FFFFFF"/>
                </a:solidFill>
                <a:latin typeface="Calibri" panose="020F0502020204030204" pitchFamily="34" charset="0"/>
              </a:rPr>
              <a:t>匯入錯誤</a:t>
            </a:r>
            <a:endParaRPr lang="en-US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398895-4728-C6A4-A452-320AF599513B}"/>
              </a:ext>
            </a:extLst>
          </p:cNvPr>
          <p:cNvSpPr txBox="1"/>
          <p:nvPr/>
        </p:nvSpPr>
        <p:spPr>
          <a:xfrm>
            <a:off x="914400" y="6172200"/>
            <a:ext cx="1024128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TW" altLang="en-US" sz="1200">
                <a:solidFill>
                  <a:srgbClr val="9AA5C7"/>
                </a:solidFill>
                <a:latin typeface="Calibri" panose="020F0502020204030204" pitchFamily="34" charset="0"/>
              </a:rPr>
              <a:t>此報告由本次對話彙整分析結果自動生成</a:t>
            </a:r>
            <a:endParaRPr lang="en-US" sz="1200">
              <a:solidFill>
                <a:srgbClr val="9AA5C7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450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1524</Words>
  <Application>Microsoft Office PowerPoint</Application>
  <PresentationFormat>Custom</PresentationFormat>
  <Paragraphs>312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USATeam Owlting</dc:creator>
  <cp:lastModifiedBy>USATeam Owlting</cp:lastModifiedBy>
  <cp:revision>1</cp:revision>
  <dcterms:created xsi:type="dcterms:W3CDTF">2026-08-12T08:09:41Z</dcterms:created>
  <dcterms:modified xsi:type="dcterms:W3CDTF">2026-08-12T08:09:41Z</dcterms:modified>
</cp:coreProperties>
</file>